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3af5ee1c7b54335" /><Relationship Type="http://schemas.openxmlformats.org/officeDocument/2006/relationships/extended-properties" Target="/docProps/app.xml" Id="Rcdf3329989d34430" /><Relationship Type="http://schemas.openxmlformats.org/officeDocument/2006/relationships/officeDocument" Target="/ppt/presentation.xml" Id="Rb8127420aefe4b4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dfc58cdc423449b"/>
  </p:sldMasterIdLst>
  <p:notesMasterIdLst>
    <p:notesMasterId xmlns:r="http://schemas.openxmlformats.org/officeDocument/2006/relationships" r:id="R5897589a368b4119"/>
  </p:notesMasterIdLst>
  <p:sldIdLst>
    <p:sldId xmlns:r="http://schemas.openxmlformats.org/officeDocument/2006/relationships" id="256" r:id="Rd073ae30e6884d70"/>
    <p:sldId xmlns:r="http://schemas.openxmlformats.org/officeDocument/2006/relationships" id="257" r:id="Ra5d98da6dd5a4f8e"/>
    <p:sldId xmlns:r="http://schemas.openxmlformats.org/officeDocument/2006/relationships" id="258" r:id="R683375104aa74f6d"/>
    <p:sldId xmlns:r="http://schemas.openxmlformats.org/officeDocument/2006/relationships" id="259" r:id="R7f7031c2b2d940ea"/>
    <p:sldId xmlns:r="http://schemas.openxmlformats.org/officeDocument/2006/relationships" id="260" r:id="Ree87ab1366224e35"/>
    <p:sldId xmlns:r="http://schemas.openxmlformats.org/officeDocument/2006/relationships" id="261" r:id="Ra84168d45b9143ae"/>
    <p:sldId xmlns:r="http://schemas.openxmlformats.org/officeDocument/2006/relationships" id="262" r:id="Rdceed58bd9b644f7"/>
    <p:sldId xmlns:r="http://schemas.openxmlformats.org/officeDocument/2006/relationships" id="263" r:id="R3314f172c8704dcc"/>
    <p:sldId xmlns:r="http://schemas.openxmlformats.org/officeDocument/2006/relationships" id="264" r:id="R6ce9d892dbe748bb"/>
    <p:sldId xmlns:r="http://schemas.openxmlformats.org/officeDocument/2006/relationships" id="265" r:id="Re255007791534a9b"/>
    <p:sldId xmlns:r="http://schemas.openxmlformats.org/officeDocument/2006/relationships" id="266" r:id="Rade7a728531d4b07"/>
    <p:sldId xmlns:r="http://schemas.openxmlformats.org/officeDocument/2006/relationships" id="267" r:id="R1db7b9853c154c43"/>
    <p:sldId xmlns:r="http://schemas.openxmlformats.org/officeDocument/2006/relationships" id="268" r:id="R8d47bcf7ff564fe7"/>
    <p:sldId xmlns:r="http://schemas.openxmlformats.org/officeDocument/2006/relationships" id="269" r:id="Rbf32e6f6819448c6"/>
    <p:sldId xmlns:r="http://schemas.openxmlformats.org/officeDocument/2006/relationships" id="270" r:id="Rf29a4812d5064109"/>
    <p:sldId xmlns:r="http://schemas.openxmlformats.org/officeDocument/2006/relationships" id="271" r:id="Ra658c66494e24c82"/>
    <p:sldId xmlns:r="http://schemas.openxmlformats.org/officeDocument/2006/relationships" id="272" r:id="R9ce868f0441841b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c4c007799e44d2a" /><Relationship Type="http://schemas.openxmlformats.org/officeDocument/2006/relationships/slideMaster" Target="/ppt/slideMasters/slideMaster1.xml" Id="Radfc58cdc423449b" /><Relationship Type="http://schemas.openxmlformats.org/officeDocument/2006/relationships/notesMaster" Target="/ppt/notesMasters/notesMaster1.xml" Id="R5897589a368b4119" /><Relationship Type="http://schemas.openxmlformats.org/officeDocument/2006/relationships/presProps" Target="/ppt/presProps.xml" Id="Rca73eda5a69b4db8" /><Relationship Type="http://schemas.openxmlformats.org/officeDocument/2006/relationships/tableStyles" Target="/ppt/tableStyles.xml" Id="R66c89fbf68f64186" /><Relationship Type="http://schemas.openxmlformats.org/officeDocument/2006/relationships/slide" Target="/ppt/slides/slide1.xml" Id="Rd073ae30e6884d70" /><Relationship Type="http://schemas.openxmlformats.org/officeDocument/2006/relationships/slide" Target="/ppt/slides/slide2.xml" Id="Ra5d98da6dd5a4f8e" /><Relationship Type="http://schemas.openxmlformats.org/officeDocument/2006/relationships/slide" Target="/ppt/slides/slide3.xml" Id="R683375104aa74f6d" /><Relationship Type="http://schemas.openxmlformats.org/officeDocument/2006/relationships/slide" Target="/ppt/slides/slide4.xml" Id="R7f7031c2b2d940ea" /><Relationship Type="http://schemas.openxmlformats.org/officeDocument/2006/relationships/slide" Target="/ppt/slides/slide5.xml" Id="Ree87ab1366224e35" /><Relationship Type="http://schemas.openxmlformats.org/officeDocument/2006/relationships/slide" Target="/ppt/slides/slide6.xml" Id="Ra84168d45b9143ae" /><Relationship Type="http://schemas.openxmlformats.org/officeDocument/2006/relationships/slide" Target="/ppt/slides/slide7.xml" Id="Rdceed58bd9b644f7" /><Relationship Type="http://schemas.openxmlformats.org/officeDocument/2006/relationships/slide" Target="/ppt/slides/slide8.xml" Id="R3314f172c8704dcc" /><Relationship Type="http://schemas.openxmlformats.org/officeDocument/2006/relationships/slide" Target="/ppt/slides/slide9.xml" Id="R6ce9d892dbe748bb" /><Relationship Type="http://schemas.openxmlformats.org/officeDocument/2006/relationships/slide" Target="/ppt/slides/slide10.xml" Id="Re255007791534a9b" /><Relationship Type="http://schemas.openxmlformats.org/officeDocument/2006/relationships/slide" Target="/ppt/slides/slide11.xml" Id="Rade7a728531d4b07" /><Relationship Type="http://schemas.openxmlformats.org/officeDocument/2006/relationships/slide" Target="/ppt/slides/slide12.xml" Id="R1db7b9853c154c43" /><Relationship Type="http://schemas.openxmlformats.org/officeDocument/2006/relationships/slide" Target="/ppt/slides/slide13.xml" Id="R8d47bcf7ff564fe7" /><Relationship Type="http://schemas.openxmlformats.org/officeDocument/2006/relationships/slide" Target="/ppt/slides/slide14.xml" Id="Rbf32e6f6819448c6" /><Relationship Type="http://schemas.openxmlformats.org/officeDocument/2006/relationships/slide" Target="/ppt/slides/slide15.xml" Id="Rf29a4812d5064109" /><Relationship Type="http://schemas.openxmlformats.org/officeDocument/2006/relationships/slide" Target="/ppt/slides/slide16.xml" Id="Ra658c66494e24c82" /><Relationship Type="http://schemas.openxmlformats.org/officeDocument/2006/relationships/slide" Target="/ppt/slides/slide17.xml" Id="R9ce868f0441841b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a9240fb929a4d9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73def996f254e35" /><Relationship Type="http://schemas.openxmlformats.org/officeDocument/2006/relationships/notesMaster" Target="/ppt/notesMasters/notesMaster1.xml" Id="R8ae13e9289224f9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277daac92d14de2" /><Relationship Type="http://schemas.openxmlformats.org/officeDocument/2006/relationships/notesMaster" Target="/ppt/notesMasters/notesMaster1.xml" Id="R492c38ac3aa143f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908b18f409f4057" /><Relationship Type="http://schemas.openxmlformats.org/officeDocument/2006/relationships/notesMaster" Target="/ppt/notesMasters/notesMaster1.xml" Id="Rb4702e60c631405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e6faf47aaf24f77" /><Relationship Type="http://schemas.openxmlformats.org/officeDocument/2006/relationships/notesMaster" Target="/ppt/notesMasters/notesMaster1.xml" Id="R4a58ea43b5c4459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6df209094964f1f" /><Relationship Type="http://schemas.openxmlformats.org/officeDocument/2006/relationships/notesMaster" Target="/ppt/notesMasters/notesMaster1.xml" Id="R5e6904fda2e34a4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956d3c79d5d4a08" /><Relationship Type="http://schemas.openxmlformats.org/officeDocument/2006/relationships/notesMaster" Target="/ppt/notesMasters/notesMaster1.xml" Id="R11f19cd1940b478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1b6eabb143f476b" /><Relationship Type="http://schemas.openxmlformats.org/officeDocument/2006/relationships/notesMaster" Target="/ppt/notesMasters/notesMaster1.xml" Id="Rf25707ee89cd441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e86303f68f341fa" /><Relationship Type="http://schemas.openxmlformats.org/officeDocument/2006/relationships/notesMaster" Target="/ppt/notesMasters/notesMaster1.xml" Id="R33ccf826e7b8486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b4682a6dce64cf2" /><Relationship Type="http://schemas.openxmlformats.org/officeDocument/2006/relationships/notesMaster" Target="/ppt/notesMasters/notesMaster1.xml" Id="Rec39091f9d95476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fef27685dbc461d" /><Relationship Type="http://schemas.openxmlformats.org/officeDocument/2006/relationships/notesMaster" Target="/ppt/notesMasters/notesMaster1.xml" Id="Rf3fc9225404d47c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cb641c650db4052" /><Relationship Type="http://schemas.openxmlformats.org/officeDocument/2006/relationships/notesMaster" Target="/ppt/notesMasters/notesMaster1.xml" Id="Rbe647afa15f24ff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21bb44a4a08485b" /><Relationship Type="http://schemas.openxmlformats.org/officeDocument/2006/relationships/notesMaster" Target="/ppt/notesMasters/notesMaster1.xml" Id="R3a3123e24b944ca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3ebd27d0c9641ae" /><Relationship Type="http://schemas.openxmlformats.org/officeDocument/2006/relationships/notesMaster" Target="/ppt/notesMasters/notesMaster1.xml" Id="R02ff4348a73a40f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12b71bac348429a" /><Relationship Type="http://schemas.openxmlformats.org/officeDocument/2006/relationships/notesMaster" Target="/ppt/notesMasters/notesMaster1.xml" Id="Ra67bdd4f5db6484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8ff75d7b5594662" /><Relationship Type="http://schemas.openxmlformats.org/officeDocument/2006/relationships/notesMaster" Target="/ppt/notesMasters/notesMaster1.xml" Id="R905858223598425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cb078814d2a4c6f" /><Relationship Type="http://schemas.openxmlformats.org/officeDocument/2006/relationships/notesMaster" Target="/ppt/notesMasters/notesMaster1.xml" Id="R7df379522b9e42f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2e59fd00f6d4b4d" /><Relationship Type="http://schemas.openxmlformats.org/officeDocument/2006/relationships/notesMaster" Target="/ppt/notesMasters/notesMaster1.xml" Id="R432700c7ce1f4bd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로컬 Unity 프로젝트의 2026-10-06 구현 기준 기술 설명. 표지 이미지: outputs/delivery-models/both_preview.png, Blender 모델 렌더. 온라인 출시나 성능 측정 결과를 의미하지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구현 근거: Assets/Gameplay/MonsterDeliveryPrototype.cs; GAME_DESIGN.md의 현재 플레이 노출 범위. 이미지: art-review/mailboxes-overview-20261006.png. 기존 섬 맵과 조명은 이전 커밋에서 마련된 환경을 사용한다.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구현 근거: Assets/Gameplay/MonsterDeliveryPrototype.cs; Assets/Gameplay/DeliveryItemState.cs; Assets/Gameplay/InteractionTarget.cs; Assets/Editor/DeliveryPropsPlacement.cs. RuntimeInitializeOnLoadMethod에서 Map Explorer 설치, Player Camera 생성. 무기 이름은 기존 WeaponKind 타입명을 유지하면서 생활용품 enum으로 교체.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구현 근거: Assets/Gameplay/MonsterDeliveryPrototype.cs UpdatePlayer / RecoverActor / OnGUI. Input System Keyboard와 Mouse 사용. CharacterController 수평과 수직 이동을 단일 Move 호출로 합침. 숙이기 전환 시에만 height/center 갱신. 이미지: art-review/crosshair-default-20261006.png.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구현 근거: Assets/Gameplay/MonsterDeliveryPrototype.cs 및 GAME_DESIGN.md 생활용품 아이템 10종 표. 이미지는 Assets/Art/DeliveryItemConcepts의 AI 제작 컨셉 이미지이며 해당 10종의 3D 모델은 아직 추가되지 않았다. 수치는 첫 플레이 테스트 초안이다.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구현 근거: Assets/Gameplay/MonsterDeliveryPrototype.cs 및 GAME_DESIGN.md 생활용품 아이템 10종 표. 이미지는 Assets/Art/DeliveryItemConcepts의 AI 제작 컨셉 이미지이며 해당 10종의 3D 모델은 아직 추가되지 않았다. 수치는 첫 플레이 테스트 초안이다.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구현 근거: Assets/Gameplay/DeliveryItemState.cs Control / MoveMultiplier / CanCapture; MonsterDeliveryPrototype.cs AddWeapon / UseWeapon / ClearSlot. forceUntil은 0.35초, 연속 강제 이동 저항 forceResistUntil은 0.8초. itemPlaytestEnabled는 비직렬화 private bool이며 false.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구현 근거: Assets/Gameplay/MonsterDeliveryPrototype.cs UpdateInteraction / UpdateCapture. Camera.ViewportPointToRay(.5,.5), Physics.Raycast 12m, QueryTriggerInteraction.Ignore, GetComponentInParent&lt;InteractionTarget&gt;. 실제 거리 hit.distance + nearClipPlane. 이미지: art-review/mailbox-neutral-white-effects-20261006.png.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구현 근거: Assets/Art/DeliveryProps/InteractionOutline.shader; Assets/Gameplay/InteractionTarget.cs; Assets/Editor/DeliveryPropsPlacement.cs의 outline mesh 생성. 스텐실 bit 64 마스크, Cull Front 확장 외피, ZTest LEqual. 동일 위치 정점의 노멀을 합쳐 분할 메시 틈을 완화. 원본 재질과 콜라이더를 수정하지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구현 근거: Assets/Gameplay/MonsterDeliveryPrototype.cs UpdateCapture / Capture / SetPlayerColor / SetMailboxEffectColor. E 3초, 작업용 장갑 2초. owner 배열로 소유권 저장. MaterialPropertyBlock으로 CaptureBeacon 아래 Renderer의 _Color만 갱신. 이미지: art-review/mailbox-owned-yellow-effects-20261006.png.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제작 근거: outputs/delivery-models/delivery_props.blend, model_audit.json, export_verification.json. Higgsfield Bridge의 Blender bpy 실행으로 참고 이미지 기반 직접 모델링과 베이크. Unity에는 원본 parcel.fbx / mailbox.fbx와 정적 프리팹. 원본 우체통 1.732m, Unity 파생 메시 2.832m. 이미지 parcel_preview.png / mailbox_preview.png는 Blender 렌더.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구현 근거: Assets/Editor/DeliveryPropsPlacement.cs의 ImportProp / importer 설정. ORM은 R=AO, G=roughness, B=metallic. Standard에 사용하는 MetallicSmoothness R=metallic, A=1-roughness. AO 데이터는 원본 ORM에 보존되어 있으며 현재 Standard OcclusionMap에는 별도 연결하지 않았다. Albedo sRGB, ORM/metallic maps linear. ModelImporter globalScale=1, useFileScale, bakeAxisConversion=true. Collider는 모델 메시를 사용.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구현 근거: Assets/Editor/DeliveryPropsPlacement.cs. Layer_11_Mailboxes의 10개 Prefab instance. ground collider Raycast와 Physics.OverlapBox로 후보 위치를 검색. 앞쪽 대문 옆 울타리 바깥 잔디, 도로를 향하는 문. 반대 방향 집 9/10 회전 처리. 이미지: art-review/mailbox-plot-09.png.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구현 근거: Assets/Editor/DeliveryPropsPlacement.cs ConfigureBeacon. MailboxBeaconPulse.anim 2.2초 Legacy Animation 루프. LineRenderer 64점 radius .48 width .035, local scale .94..1.08. ParticleSystem rate 4/sec max16, sphere mesh, prewarm, 수명 2.2..3.2초, 속도 .18.. .3m/sec, size .045..075m. 이미지: art-review/mailbox-plot-01.png. 효과에 Collider/Light 추가 없음.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구현 근거: Assets/Gameplay/MonsterDeliveryPrototype.cs MakeShot / BrawlShot.FixedUpdate; Assets/Editor/SidewalkCornerRepair.cs; Assets/Editor/ReferenceSidewalks.cs. 카메라에서 탄 생성 위치까지 Raycast/SphereCast로 근거리 장애물 검사, Rigidbody.SweepTest로 고속 이동 검사. 보도는 겹친 같은 평면 표면을 분할 합집합 메시로 대체하되 기존 BoxCollider 유지. 이미지: art-review/sidewalk-corners-fixed-20260930.png.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실제 Unity 메뉴 검증 기록 2026-10-06: InteractionCheck 48, DeliveryItemsCheck 42, PlayerBasicsCheck 14, MovementSurfaceCheck 18, ProjectileCollisionCheck 121. Placement Verify는 Edit Mode, Beacon Motion은 Play Mode. art-review 텍스트 보고서와 Unity 로그가 근거. 표는 수정 가능한 네이티브 PowerPoint 테이블. 성능 프로파일링 또는 온라인 테스트 결과가 아님.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현재 제외 범위의 근거: GAME_DESIGN.md 현재 플레이 노출 범위 및 제외 항목. 본 슬라이드는 아직 구현하지 않은 향후 단계다. 네트워크 라이브러리, 성능 수치, 색 선택 UI를 구현 완료로 표현하지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9dd49d02ab4ea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93db30562f44b31" /><Relationship Type="http://schemas.openxmlformats.org/officeDocument/2006/relationships/slideLayout" Target="/ppt/slideLayouts/slideLayout1.xml" Id="Re1f70bd13f0d4e2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1f70bd13f0d4e2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eeacf36ecb466c" /><Relationship Type="http://schemas.openxmlformats.org/officeDocument/2006/relationships/image" Target="/ppt/media/image.png" Id="R6b308341f66a4eee" /><Relationship Type="http://schemas.openxmlformats.org/officeDocument/2006/relationships/notesSlide" Target="/ppt/notesSlides/notesSlide1.xml" Id="R6f03d4db972d4c0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431dae4d1344d9" /><Relationship Type="http://schemas.openxmlformats.org/officeDocument/2006/relationships/image" Target="/ppt/media/image2.png" Id="Reba761fdb8d247e4" /><Relationship Type="http://schemas.openxmlformats.org/officeDocument/2006/relationships/notesSlide" Target="/ppt/notesSlides/notesSlide2.xml" Id="R1c8d884ac781414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b25b873b5d45f6" /><Relationship Type="http://schemas.openxmlformats.org/officeDocument/2006/relationships/notesSlide" Target="/ppt/notesSlides/notesSlide3.xml" Id="R36f6aa3caba34fa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1a4b6ae01745b2" /><Relationship Type="http://schemas.openxmlformats.org/officeDocument/2006/relationships/image" Target="/ppt/media/image3.png" Id="Ra594ee0a6a0c4332" /><Relationship Type="http://schemas.openxmlformats.org/officeDocument/2006/relationships/notesSlide" Target="/ppt/notesSlides/notesSlide4.xml" Id="R707aa60dfbb244a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5ca267d02446a7" /><Relationship Type="http://schemas.openxmlformats.org/officeDocument/2006/relationships/image" Target="/ppt/media/image4.png" Id="R95b7811d7c90483e" /><Relationship Type="http://schemas.openxmlformats.org/officeDocument/2006/relationships/image" Target="/ppt/media/image5.png" Id="Ra51a6229405e4ea5" /><Relationship Type="http://schemas.openxmlformats.org/officeDocument/2006/relationships/image" Target="/ppt/media/image6.png" Id="R5db80f686dda420d" /><Relationship Type="http://schemas.openxmlformats.org/officeDocument/2006/relationships/image" Target="/ppt/media/image7.png" Id="R2c6495eafd5a4e19" /><Relationship Type="http://schemas.openxmlformats.org/officeDocument/2006/relationships/image" Target="/ppt/media/image8.png" Id="R2241ba1351334580" /><Relationship Type="http://schemas.openxmlformats.org/officeDocument/2006/relationships/notesSlide" Target="/ppt/notesSlides/notesSlide5.xml" Id="Rd047d8299eef48e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5664bba52b4fa5" /><Relationship Type="http://schemas.openxmlformats.org/officeDocument/2006/relationships/image" Target="/ppt/media/image9.png" Id="R1dd5d106250c4fc7" /><Relationship Type="http://schemas.openxmlformats.org/officeDocument/2006/relationships/image" Target="/ppt/media/image10.png" Id="R758581e1aa2b4864" /><Relationship Type="http://schemas.openxmlformats.org/officeDocument/2006/relationships/image" Target="/ppt/media/image11.png" Id="R0475f0ff797d4e82" /><Relationship Type="http://schemas.openxmlformats.org/officeDocument/2006/relationships/image" Target="/ppt/media/image12.png" Id="R10a3612425314c4c" /><Relationship Type="http://schemas.openxmlformats.org/officeDocument/2006/relationships/image" Target="/ppt/media/image13.png" Id="R39767cf5260440c9" /><Relationship Type="http://schemas.openxmlformats.org/officeDocument/2006/relationships/notesSlide" Target="/ppt/notesSlides/notesSlide6.xml" Id="R31ac1c33eca14ef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8f9726c2bd4d9d" /><Relationship Type="http://schemas.openxmlformats.org/officeDocument/2006/relationships/notesSlide" Target="/ppt/notesSlides/notesSlide7.xml" Id="R48498300e8a9467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5f1e111a5344d7" /><Relationship Type="http://schemas.openxmlformats.org/officeDocument/2006/relationships/image" Target="/ppt/media/image14.png" Id="Re4d80b7d783e4840" /><Relationship Type="http://schemas.openxmlformats.org/officeDocument/2006/relationships/notesSlide" Target="/ppt/notesSlides/notesSlide8.xml" Id="Rbee2ea412cd6460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719a34434d44b3" /><Relationship Type="http://schemas.openxmlformats.org/officeDocument/2006/relationships/notesSlide" Target="/ppt/notesSlides/notesSlide9.xml" Id="R876942aa3d3d457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20718d667647dc" /><Relationship Type="http://schemas.openxmlformats.org/officeDocument/2006/relationships/image" Target="/ppt/media/image15.png" Id="R7a3b6d1344894e32" /><Relationship Type="http://schemas.openxmlformats.org/officeDocument/2006/relationships/notesSlide" Target="/ppt/notesSlides/notesSlide10.xml" Id="R2acac48ea511412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1bfb2845a44730" /><Relationship Type="http://schemas.openxmlformats.org/officeDocument/2006/relationships/image" Target="/ppt/media/image16.png" Id="R33f17dc4da0d40cc" /><Relationship Type="http://schemas.openxmlformats.org/officeDocument/2006/relationships/image" Target="/ppt/media/image17.png" Id="Rf858f55abfa8409f" /><Relationship Type="http://schemas.openxmlformats.org/officeDocument/2006/relationships/notesSlide" Target="/ppt/notesSlides/notesSlide11.xml" Id="R71efa13e98594cd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89e025f38e4737" /><Relationship Type="http://schemas.openxmlformats.org/officeDocument/2006/relationships/notesSlide" Target="/ppt/notesSlides/notesSlide12.xml" Id="R2133dc488b2b4e5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cdb6db3c4e4c2b" /><Relationship Type="http://schemas.openxmlformats.org/officeDocument/2006/relationships/image" Target="/ppt/media/image18.png" Id="Rf562a4c1cfba4bcd" /><Relationship Type="http://schemas.openxmlformats.org/officeDocument/2006/relationships/notesSlide" Target="/ppt/notesSlides/notesSlide13.xml" Id="R680759b4cea84d6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8e894164c84a4e" /><Relationship Type="http://schemas.openxmlformats.org/officeDocument/2006/relationships/image" Target="/ppt/media/image19.png" Id="Refd95880db1d4d3e" /><Relationship Type="http://schemas.openxmlformats.org/officeDocument/2006/relationships/notesSlide" Target="/ppt/notesSlides/notesSlide14.xml" Id="Rf206cd9d6746487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9cd2193fe84609" /><Relationship Type="http://schemas.openxmlformats.org/officeDocument/2006/relationships/image" Target="/ppt/media/image20.png" Id="R9eec5bc819fa47fb" /><Relationship Type="http://schemas.openxmlformats.org/officeDocument/2006/relationships/notesSlide" Target="/ppt/notesSlides/notesSlide15.xml" Id="R4eac20cc75d4485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6432cdf390489b" /><Relationship Type="http://schemas.openxmlformats.org/officeDocument/2006/relationships/notesSlide" Target="/ppt/notesSlides/notesSlide16.xml" Id="Rd880d578f85d4ae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7789a5af51404e" /><Relationship Type="http://schemas.openxmlformats.org/officeDocument/2006/relationships/notesSlide" Target="/ppt/notesSlides/notesSlide17.xml" Id="Rca417a4c72cd4af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33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yvfa0e-0">
            <a:extLst xmlns:a="http://schemas.openxmlformats.org/drawingml/2006/main">
              <a:ext uri="{FF2B5EF4-FFF2-40B4-BE49-F238E27FC236}">
                <a16:creationId xmlns:a16="http://schemas.microsoft.com/office/drawing/2014/main" id="{4800DEDB-2FB4-43F4-8972-B931E9C5B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34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Monster Delivery Service</a:t>
            </a:r>
          </a:p>
        </p:txBody>
      </p:sp>
      <p:sp>
        <p:nvSpPr>
          <p:cNvPr id="2" name="text-yvfa0e-1">
            <a:extLst xmlns:a="http://schemas.openxmlformats.org/drawingml/2006/main">
              <a:ext uri="{FF2B5EF4-FFF2-40B4-BE49-F238E27FC236}">
                <a16:creationId xmlns:a16="http://schemas.microsoft.com/office/drawing/2014/main" id="{F6E2D0B3-CA46-4A8A-9560-DDDFC3A92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BC6C9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ABC6C9"/>
                </a:solidFill>
                <a:latin typeface="Malgun Gothic"/>
                <a:ea typeface="Malgun Gothic"/>
                <a:cs typeface="Malgun Gothic"/>
              </a:rPr>
              <a:t>Monster Delivery Service  ·  2026.10.06  ·  01</a:t>
            </a:r>
          </a:p>
        </p:txBody>
      </p:sp>
      <p:sp>
        <p:nvSpPr>
          <p:cNvPr id="3" name="text-yvfa0e-2">
            <a:extLst xmlns:a="http://schemas.openxmlformats.org/drawingml/2006/main">
              <a:ext uri="{FF2B5EF4-FFF2-40B4-BE49-F238E27FC236}">
                <a16:creationId xmlns:a16="http://schemas.microsoft.com/office/drawing/2014/main" id="{42E227C2-9F01-42F0-A60E-8F979C47D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528637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4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생활용품 난투와</a:t>
            </a:r>
          </a:p>
          <a:p xmlns:a="http://schemas.openxmlformats.org/drawingml/2006/main">
            <a:pPr>
              <a:defRPr sz="4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4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우체통 점령 기술</a:t>
            </a:r>
          </a:p>
        </p:txBody>
      </p:sp>
      <p:sp>
        <p:nvSpPr>
          <p:cNvPr id="4" name="text-yvfa0e-3">
            <a:extLst xmlns:a="http://schemas.openxmlformats.org/drawingml/2006/main">
              <a:ext uri="{FF2B5EF4-FFF2-40B4-BE49-F238E27FC236}">
                <a16:creationId xmlns:a16="http://schemas.microsoft.com/office/drawing/2014/main" id="{7A13EB5C-CB9B-40F5-BF08-F9E40F6FC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5524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B8D0D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B8D0D2"/>
                </a:solidFill>
                <a:latin typeface="Malgun Gothic"/>
                <a:ea typeface="Malgun Gothic"/>
                <a:cs typeface="Malgun Gothic"/>
              </a:rPr>
              <a:t>Unity 6.5  ·  C#  ·  Blender 5.1</a:t>
            </a:r>
          </a:p>
          <a:p xmlns:a="http://schemas.openxmlformats.org/drawingml/2006/main">
            <a:pPr>
              <a:defRPr sz="2025" b="0">
                <a:solidFill>
                  <a:srgbClr val="B8D0D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B8D0D2"/>
                </a:solidFill>
                <a:latin typeface="Malgun Gothic"/>
                <a:ea typeface="Malgun Gothic"/>
                <a:cs typeface="Malgun Gothic"/>
              </a:rPr>
              <a:t>현재 구현과 다음 연결 지점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308341f66a4eee"/>
          <a:stretch xmlns:a="http://schemas.openxmlformats.org/drawingml/2006/main"/>
        </p:blipFill>
        <p:spPr>
          <a:xfrm xmlns:a="http://schemas.openxmlformats.org/drawingml/2006/main">
            <a:off x="6738938" y="1428750"/>
            <a:ext cx="4429125" cy="4429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156166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spef3o-0">
            <a:extLst xmlns:a="http://schemas.openxmlformats.org/drawingml/2006/main">
              <a:ext uri="{FF2B5EF4-FFF2-40B4-BE49-F238E27FC236}">
                <a16:creationId xmlns:a16="http://schemas.microsoft.com/office/drawing/2014/main" id="{0491666F-1236-49F7-8B75-AB05FF783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34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6383E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6383E"/>
                </a:solidFill>
                <a:latin typeface="Malgun Gothic"/>
                <a:ea typeface="Malgun Gothic"/>
                <a:cs typeface="Malgun Gothic"/>
              </a:rPr>
              <a:t>현재 플레이 범위</a:t>
            </a:r>
          </a:p>
        </p:txBody>
      </p:sp>
      <p:sp>
        <p:nvSpPr>
          <p:cNvPr id="2" name="text-spef3o-1">
            <a:extLst xmlns:a="http://schemas.openxmlformats.org/drawingml/2006/main">
              <a:ext uri="{FF2B5EF4-FFF2-40B4-BE49-F238E27FC236}">
                <a16:creationId xmlns:a16="http://schemas.microsoft.com/office/drawing/2014/main" id="{F85AB9DE-9044-49F5-B9B8-68E0855E2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96C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96C"/>
                </a:solidFill>
                <a:latin typeface="Malgun Gothic"/>
                <a:ea typeface="Malgun Gothic"/>
                <a:cs typeface="Malgun Gothic"/>
              </a:rPr>
              <a:t>Monster Delivery Service  ·  2026.10.06  ·  02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a761fdb8d247e4"/>
          <a:stretch xmlns:a="http://schemas.openxmlformats.org/drawingml/2006/main"/>
        </p:blipFill>
        <p:spPr>
          <a:xfrm xmlns:a="http://schemas.openxmlformats.org/drawingml/2006/main">
            <a:off x="5181600" y="1428750"/>
            <a:ext cx="6400800" cy="4572000"/>
          </a:xfrm>
          <a:prstGeom xmlns:a="http://schemas.openxmlformats.org/drawingml/2006/main" prst="rect">
            <a:avLst/>
          </a:prstGeom>
        </p:spPr>
      </p:pic>
      <p:sp>
        <p:nvSpPr>
          <p:cNvPr id="4" name="text-spef3o-2">
            <a:extLst xmlns:a="http://schemas.openxmlformats.org/drawingml/2006/main">
              <a:ext uri="{FF2B5EF4-FFF2-40B4-BE49-F238E27FC236}">
                <a16:creationId xmlns:a16="http://schemas.microsoft.com/office/drawing/2014/main" id="{65AB9869-DD57-4FEE-BAA7-2487639AB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4238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6383E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6383E"/>
                </a:solidFill>
                <a:latin typeface="Malgun Gothic"/>
                <a:ea typeface="Malgun Gothic"/>
                <a:cs typeface="Malgun Gothic"/>
              </a:rPr>
              <a:t>지금 확인 가능</a:t>
            </a:r>
          </a:p>
        </p:txBody>
      </p:sp>
      <p:sp>
        <p:nvSpPr>
          <p:cNvPr id="5" name="text-spef3o-3">
            <a:extLst xmlns:a="http://schemas.openxmlformats.org/drawingml/2006/main">
              <a:ext uri="{FF2B5EF4-FFF2-40B4-BE49-F238E27FC236}">
                <a16:creationId xmlns:a16="http://schemas.microsoft.com/office/drawing/2014/main" id="{9294D1A2-5945-401F-9A58-C0B3194D2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4238625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6383E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6383E"/>
                </a:solidFill>
                <a:latin typeface="Malgun Gothic"/>
                <a:ea typeface="Malgun Gothic"/>
                <a:cs typeface="Malgun Gothic"/>
              </a:rPr>
              <a:t>빈손 이동 · 조준점 · 안내 문구</a:t>
            </a:r>
          </a:p>
          <a:p xmlns:a="http://schemas.openxmlformats.org/drawingml/2006/main">
            <a:pPr>
              <a:defRPr sz="1800" b="0">
                <a:solidFill>
                  <a:srgbClr val="16383E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6383E"/>
                </a:solidFill>
                <a:latin typeface="Malgun Gothic"/>
                <a:ea typeface="Malgun Gothic"/>
                <a:cs typeface="Malgun Gothic"/>
              </a:rPr>
              <a:t>집 앞 우체통 10개 · E 점령</a:t>
            </a:r>
          </a:p>
        </p:txBody>
      </p:sp>
      <p:sp>
        <p:nvSpPr>
          <p:cNvPr id="6" name="text-spef3o-4">
            <a:extLst xmlns:a="http://schemas.openxmlformats.org/drawingml/2006/main">
              <a:ext uri="{FF2B5EF4-FFF2-40B4-BE49-F238E27FC236}">
                <a16:creationId xmlns:a16="http://schemas.microsoft.com/office/drawing/2014/main" id="{E58A7131-7C88-44AE-AC8F-AE4D7A3CC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57525"/>
            <a:ext cx="4238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6383E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6383E"/>
                </a:solidFill>
                <a:latin typeface="Malgun Gothic"/>
                <a:ea typeface="Malgun Gothic"/>
                <a:cs typeface="Malgun Gothic"/>
              </a:rPr>
              <a:t>로직 준비, 플레이 노출 보류</a:t>
            </a:r>
          </a:p>
        </p:txBody>
      </p:sp>
      <p:sp>
        <p:nvSpPr>
          <p:cNvPr id="7" name="text-spef3o-5">
            <a:extLst xmlns:a="http://schemas.openxmlformats.org/drawingml/2006/main">
              <a:ext uri="{FF2B5EF4-FFF2-40B4-BE49-F238E27FC236}">
                <a16:creationId xmlns:a16="http://schemas.microsoft.com/office/drawing/2014/main" id="{ACF4D50E-AD6F-422C-97B4-7C2051548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86150"/>
            <a:ext cx="4238625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6383E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6383E"/>
                </a:solidFill>
                <a:latin typeface="Malgun Gothic"/>
                <a:ea typeface="Malgun Gothic"/>
                <a:cs typeface="Malgun Gothic"/>
              </a:rPr>
              <a:t>생활용품 10종 · 슬롯과 소모</a:t>
            </a:r>
          </a:p>
          <a:p xmlns:a="http://schemas.openxmlformats.org/drawingml/2006/main">
            <a:pPr>
              <a:defRPr sz="1800" b="0">
                <a:solidFill>
                  <a:srgbClr val="16383E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6383E"/>
                </a:solidFill>
                <a:latin typeface="Malgun Gothic"/>
                <a:ea typeface="Malgun Gothic"/>
                <a:cs typeface="Malgun Gothic"/>
              </a:rPr>
              <a:t>기절 · 밀기 · 강화 · 투척</a:t>
            </a:r>
          </a:p>
        </p:txBody>
      </p:sp>
      <p:sp>
        <p:nvSpPr>
          <p:cNvPr id="8" name="text-spef3o-6">
            <a:extLst xmlns:a="http://schemas.openxmlformats.org/drawingml/2006/main">
              <a:ext uri="{FF2B5EF4-FFF2-40B4-BE49-F238E27FC236}">
                <a16:creationId xmlns:a16="http://schemas.microsoft.com/office/drawing/2014/main" id="{F8D6A629-6A82-4872-A807-3D5837F6A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95800"/>
            <a:ext cx="4238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6383E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6383E"/>
                </a:solidFill>
                <a:latin typeface="Malgun Gothic"/>
                <a:ea typeface="Malgun Gothic"/>
                <a:cs typeface="Malgun Gothic"/>
              </a:rPr>
              <a:t>아직 연결할 부분</a:t>
            </a:r>
          </a:p>
        </p:txBody>
      </p:sp>
      <p:sp>
        <p:nvSpPr>
          <p:cNvPr id="9" name="text-spef3o-7">
            <a:extLst xmlns:a="http://schemas.openxmlformats.org/drawingml/2006/main">
              <a:ext uri="{FF2B5EF4-FFF2-40B4-BE49-F238E27FC236}">
                <a16:creationId xmlns:a16="http://schemas.microsoft.com/office/drawing/2014/main" id="{EC4D74EB-89AD-4CD3-BF9C-387D3AE75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24425"/>
            <a:ext cx="4238625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6383E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6383E"/>
                </a:solidFill>
                <a:latin typeface="Malgun Gothic"/>
                <a:ea typeface="Malgun Gothic"/>
                <a:cs typeface="Malgun Gothic"/>
              </a:rPr>
              <a:t>입장 전 색 선택 화면</a:t>
            </a:r>
          </a:p>
          <a:p xmlns:a="http://schemas.openxmlformats.org/drawingml/2006/main">
            <a:pPr>
              <a:defRPr sz="1800" b="0">
                <a:solidFill>
                  <a:srgbClr val="16383E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6383E"/>
                </a:solidFill>
                <a:latin typeface="Malgun Gothic"/>
                <a:ea typeface="Malgun Gothic"/>
                <a:cs typeface="Malgun Gothic"/>
              </a:rPr>
              <a:t>실제 온라인 동기화 · 아이템 연출</a:t>
            </a:r>
          </a:p>
        </p:txBody>
      </p:sp>
    </p:spTree>
    <p:extLst>
      <p:ext uri="{BB962C8B-B14F-4D97-AF65-F5344CB8AC3E}">
        <p14:creationId xmlns:p14="http://schemas.microsoft.com/office/powerpoint/2010/main" val="70524908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5s8fys-0">
            <a:extLst xmlns:a="http://schemas.openxmlformats.org/drawingml/2006/main">
              <a:ext uri="{FF2B5EF4-FFF2-40B4-BE49-F238E27FC236}">
                <a16:creationId xmlns:a16="http://schemas.microsoft.com/office/drawing/2014/main" id="{9A4C807E-05E9-4086-A481-282C80AF6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34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6383E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6383E"/>
                </a:solidFill>
                <a:latin typeface="Malgun Gothic"/>
                <a:ea typeface="Malgun Gothic"/>
                <a:cs typeface="Malgun Gothic"/>
              </a:rPr>
              <a:t>런타임과 에디터 코드 구조</a:t>
            </a:r>
          </a:p>
        </p:txBody>
      </p:sp>
      <p:sp>
        <p:nvSpPr>
          <p:cNvPr id="2" name="text-5s8fys-1">
            <a:extLst xmlns:a="http://schemas.openxmlformats.org/drawingml/2006/main">
              <a:ext uri="{FF2B5EF4-FFF2-40B4-BE49-F238E27FC236}">
                <a16:creationId xmlns:a16="http://schemas.microsoft.com/office/drawing/2014/main" id="{85A558F0-48B4-47F6-899D-45892F421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96C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96C"/>
                </a:solidFill>
                <a:latin typeface="Malgun Gothic"/>
                <a:ea typeface="Malgun Gothic"/>
                <a:cs typeface="Malgun Gothic"/>
              </a:rPr>
              <a:t>Monster Delivery Service  ·  2026.10.06  ·  03</a:t>
            </a:r>
          </a:p>
        </p:txBody>
      </p:sp>
      <p:sp>
        <p:nvSpPr>
          <p:cNvPr id="3" name="text-5s8fys-2">
            <a:extLst xmlns:a="http://schemas.openxmlformats.org/drawingml/2006/main">
              <a:ext uri="{FF2B5EF4-FFF2-40B4-BE49-F238E27FC236}">
                <a16:creationId xmlns:a16="http://schemas.microsoft.com/office/drawing/2014/main" id="{EDBDDACC-92C4-41E8-9973-DF423979C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6383E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6383E"/>
                </a:solidFill>
                <a:latin typeface="Malgun Gothic"/>
                <a:ea typeface="Malgun Gothic"/>
                <a:cs typeface="Malgun Gothic"/>
              </a:rPr>
              <a:t>MonsterDeliveryPrototype</a:t>
            </a:r>
          </a:p>
        </p:txBody>
      </p:sp>
      <p:sp>
        <p:nvSpPr>
          <p:cNvPr id="4" name="text-5s8fys-3">
            <a:extLst xmlns:a="http://schemas.openxmlformats.org/drawingml/2006/main">
              <a:ext uri="{FF2B5EF4-FFF2-40B4-BE49-F238E27FC236}">
                <a16:creationId xmlns:a16="http://schemas.microsoft.com/office/drawing/2014/main" id="{FC16C77B-2577-4224-9E45-31957EA70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47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6383E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6383E"/>
                </a:solidFill>
                <a:latin typeface="Malgun Gothic"/>
                <a:ea typeface="Malgun Gothic"/>
                <a:cs typeface="Malgun Gothic"/>
              </a:rPr>
              <a:t>입력과 이동, 인벤토리, 시선 대상, 점령 소유권을 연결한다.</a:t>
            </a:r>
          </a:p>
        </p:txBody>
      </p:sp>
      <p:sp>
        <p:nvSpPr>
          <p:cNvPr id="5" name="text-5s8fys-4">
            <a:extLst xmlns:a="http://schemas.openxmlformats.org/drawingml/2006/main">
              <a:ext uri="{FF2B5EF4-FFF2-40B4-BE49-F238E27FC236}">
                <a16:creationId xmlns:a16="http://schemas.microsoft.com/office/drawing/2014/main" id="{83EE9DF9-BE4C-48BF-81FC-048FC0E06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9082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6383E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6383E"/>
                </a:solidFill>
                <a:latin typeface="Malgun Gothic"/>
                <a:ea typeface="Malgun Gothic"/>
                <a:cs typeface="Malgun Gothic"/>
              </a:rPr>
              <a:t>DeliveryItemState</a:t>
            </a:r>
          </a:p>
        </p:txBody>
      </p:sp>
      <p:sp>
        <p:nvSpPr>
          <p:cNvPr id="6" name="text-5s8fys-5">
            <a:extLst xmlns:a="http://schemas.openxmlformats.org/drawingml/2006/main">
              <a:ext uri="{FF2B5EF4-FFF2-40B4-BE49-F238E27FC236}">
                <a16:creationId xmlns:a16="http://schemas.microsoft.com/office/drawing/2014/main" id="{C4832DEB-9C14-45D1-8EE7-15AEADF62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1047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6383E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6383E"/>
                </a:solidFill>
                <a:latin typeface="Malgun Gothic"/>
                <a:ea typeface="Malgun Gothic"/>
                <a:cs typeface="Malgun Gothic"/>
              </a:rPr>
              <a:t>플레이어와 봇의 상태 지속 시간과 강제 이동을 공유한다.</a:t>
            </a:r>
          </a:p>
        </p:txBody>
      </p:sp>
      <p:sp>
        <p:nvSpPr>
          <p:cNvPr id="7" name="text-5s8fys-6">
            <a:extLst xmlns:a="http://schemas.openxmlformats.org/drawingml/2006/main">
              <a:ext uri="{FF2B5EF4-FFF2-40B4-BE49-F238E27FC236}">
                <a16:creationId xmlns:a16="http://schemas.microsoft.com/office/drawing/2014/main" id="{09A83597-8342-44F0-ABCA-A7683C85D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5765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6383E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6383E"/>
                </a:solidFill>
                <a:latin typeface="Malgun Gothic"/>
                <a:ea typeface="Malgun Gothic"/>
                <a:cs typeface="Malgun Gothic"/>
              </a:rPr>
              <a:t>InteractionTarget</a:t>
            </a:r>
          </a:p>
        </p:txBody>
      </p:sp>
      <p:sp>
        <p:nvSpPr>
          <p:cNvPr id="8" name="text-5s8fys-7">
            <a:extLst xmlns:a="http://schemas.openxmlformats.org/drawingml/2006/main">
              <a:ext uri="{FF2B5EF4-FFF2-40B4-BE49-F238E27FC236}">
                <a16:creationId xmlns:a16="http://schemas.microsoft.com/office/drawing/2014/main" id="{0D6F1B18-B79D-467F-97BE-27B2BB7E3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86275"/>
            <a:ext cx="1047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6383E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6383E"/>
                </a:solidFill>
                <a:latin typeface="Malgun Gothic"/>
                <a:ea typeface="Malgun Gothic"/>
                <a:cs typeface="Malgun Gothic"/>
              </a:rPr>
              <a:t>물건의 이름·안내·거리·활성 여부와 테두리 표시를 담당한다.</a:t>
            </a:r>
          </a:p>
        </p:txBody>
      </p:sp>
      <p:sp>
        <p:nvSpPr>
          <p:cNvPr id="9" name="text-5s8fys-8">
            <a:extLst xmlns:a="http://schemas.openxmlformats.org/drawingml/2006/main">
              <a:ext uri="{FF2B5EF4-FFF2-40B4-BE49-F238E27FC236}">
                <a16:creationId xmlns:a16="http://schemas.microsoft.com/office/drawing/2014/main" id="{264C12A3-F1B0-4F89-8A3A-47F599A49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76900"/>
            <a:ext cx="1076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87D8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087D85"/>
                </a:solidFill>
                <a:latin typeface="Malgun Gothic"/>
                <a:ea typeface="Malgun Gothic"/>
                <a:cs typeface="Malgun Gothic"/>
              </a:rPr>
              <a:t>Editor 메뉴는 에셋 생성·배치·검증을 담당하며 게임 로직과 구분된다</a:t>
            </a:r>
          </a:p>
        </p:txBody>
      </p:sp>
    </p:spTree>
    <p:extLst>
      <p:ext uri="{BB962C8B-B14F-4D97-AF65-F5344CB8AC3E}">
        <p14:creationId xmlns:p14="http://schemas.microsoft.com/office/powerpoint/2010/main" val="155677635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hmronq-0">
            <a:extLst xmlns:a="http://schemas.openxmlformats.org/drawingml/2006/main">
              <a:ext uri="{FF2B5EF4-FFF2-40B4-BE49-F238E27FC236}">
                <a16:creationId xmlns:a16="http://schemas.microsoft.com/office/drawing/2014/main" id="{40A81733-A76A-48D4-AAB2-0DE4B1E0B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34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6383E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6383E"/>
                </a:solidFill>
                <a:latin typeface="Malgun Gothic"/>
                <a:ea typeface="Malgun Gothic"/>
                <a:cs typeface="Malgun Gothic"/>
              </a:rPr>
              <a:t>입력과 지상 이동</a:t>
            </a:r>
          </a:p>
        </p:txBody>
      </p:sp>
      <p:sp>
        <p:nvSpPr>
          <p:cNvPr id="2" name="text-hmronq-1">
            <a:extLst xmlns:a="http://schemas.openxmlformats.org/drawingml/2006/main">
              <a:ext uri="{FF2B5EF4-FFF2-40B4-BE49-F238E27FC236}">
                <a16:creationId xmlns:a16="http://schemas.microsoft.com/office/drawing/2014/main" id="{20D53513-EF00-4547-B75E-5AFA6B368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96C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96C"/>
                </a:solidFill>
                <a:latin typeface="Malgun Gothic"/>
                <a:ea typeface="Malgun Gothic"/>
                <a:cs typeface="Malgun Gothic"/>
              </a:rPr>
              <a:t>Monster Delivery Service  ·  2026.10.06  ·  04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94ee0a6a0c4332"/>
          <a:stretch xmlns:a="http://schemas.openxmlformats.org/drawingml/2006/main"/>
        </p:blipFill>
        <p:spPr>
          <a:xfrm xmlns:a="http://schemas.openxmlformats.org/drawingml/2006/main">
            <a:off x="609600" y="1566267"/>
            <a:ext cx="6572250" cy="3696891"/>
          </a:xfrm>
          <a:prstGeom xmlns:a="http://schemas.openxmlformats.org/drawingml/2006/main" prst="rect">
            <a:avLst/>
          </a:prstGeom>
        </p:spPr>
      </p:pic>
      <p:sp>
        <p:nvSpPr>
          <p:cNvPr id="4" name="text-hmronq-2">
            <a:extLst xmlns:a="http://schemas.openxmlformats.org/drawingml/2006/main">
              <a:ext uri="{FF2B5EF4-FFF2-40B4-BE49-F238E27FC236}">
                <a16:creationId xmlns:a16="http://schemas.microsoft.com/office/drawing/2014/main" id="{30409CE4-64E0-448F-B982-4F3213528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495425"/>
            <a:ext cx="3943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6383E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6383E"/>
                </a:solidFill>
                <a:latin typeface="Malgun Gothic"/>
                <a:ea typeface="Malgun Gothic"/>
                <a:cs typeface="Malgun Gothic"/>
              </a:rPr>
              <a:t>Input System</a:t>
            </a:r>
          </a:p>
        </p:txBody>
      </p:sp>
      <p:sp>
        <p:nvSpPr>
          <p:cNvPr id="5" name="text-hmronq-3">
            <a:extLst xmlns:a="http://schemas.openxmlformats.org/drawingml/2006/main">
              <a:ext uri="{FF2B5EF4-FFF2-40B4-BE49-F238E27FC236}">
                <a16:creationId xmlns:a16="http://schemas.microsoft.com/office/drawing/2014/main" id="{20BEE49E-3B2A-4058-9744-99F377513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924050"/>
            <a:ext cx="39433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6383E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6383E"/>
                </a:solidFill>
                <a:latin typeface="Malgun Gothic"/>
                <a:ea typeface="Malgun Gothic"/>
                <a:cs typeface="Malgun Gothic"/>
              </a:rPr>
              <a:t>WASD 이동 · 마우스 시선</a:t>
            </a:r>
          </a:p>
          <a:p xmlns:a="http://schemas.openxmlformats.org/drawingml/2006/main">
            <a:pPr>
              <a:defRPr sz="1725" b="0">
                <a:solidFill>
                  <a:srgbClr val="16383E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6383E"/>
                </a:solidFill>
                <a:latin typeface="Malgun Gothic"/>
                <a:ea typeface="Malgun Gothic"/>
                <a:cs typeface="Malgun Gothic"/>
              </a:rPr>
              <a:t>Space 점프 · Shift 달리기</a:t>
            </a:r>
          </a:p>
        </p:txBody>
      </p:sp>
      <p:sp>
        <p:nvSpPr>
          <p:cNvPr id="6" name="text-hmronq-4">
            <a:extLst xmlns:a="http://schemas.openxmlformats.org/drawingml/2006/main">
              <a:ext uri="{FF2B5EF4-FFF2-40B4-BE49-F238E27FC236}">
                <a16:creationId xmlns:a16="http://schemas.microsoft.com/office/drawing/2014/main" id="{FBE681B9-A872-4BF6-9FAF-5DCA80247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886075"/>
            <a:ext cx="3943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6383E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6383E"/>
                </a:solidFill>
                <a:latin typeface="Malgun Gothic"/>
                <a:ea typeface="Malgun Gothic"/>
                <a:cs typeface="Malgun Gothic"/>
              </a:rPr>
              <a:t>CharacterController</a:t>
            </a:r>
          </a:p>
        </p:txBody>
      </p:sp>
      <p:sp>
        <p:nvSpPr>
          <p:cNvPr id="7" name="text-hmronq-5">
            <a:extLst xmlns:a="http://schemas.openxmlformats.org/drawingml/2006/main">
              <a:ext uri="{FF2B5EF4-FFF2-40B4-BE49-F238E27FC236}">
                <a16:creationId xmlns:a16="http://schemas.microsoft.com/office/drawing/2014/main" id="{B0E9B7CE-91EF-496E-98CF-930C5326F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314700"/>
            <a:ext cx="39433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6383E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6383E"/>
                </a:solidFill>
                <a:latin typeface="Malgun Gothic"/>
                <a:ea typeface="Malgun Gothic"/>
                <a:cs typeface="Malgun Gothic"/>
              </a:rPr>
              <a:t>수평 + 중력 이동을 한 번에 처리</a:t>
            </a:r>
          </a:p>
          <a:p xmlns:a="http://schemas.openxmlformats.org/drawingml/2006/main">
            <a:pPr>
              <a:defRPr sz="1725" b="0">
                <a:solidFill>
                  <a:srgbClr val="16383E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6383E"/>
                </a:solidFill>
                <a:latin typeface="Malgun Gothic"/>
                <a:ea typeface="Malgun Gothic"/>
                <a:cs typeface="Malgun Gothic"/>
              </a:rPr>
              <a:t>지면 접촉과 점프 상태 유지</a:t>
            </a:r>
          </a:p>
        </p:txBody>
      </p:sp>
      <p:sp>
        <p:nvSpPr>
          <p:cNvPr id="8" name="text-hmronq-6">
            <a:extLst xmlns:a="http://schemas.openxmlformats.org/drawingml/2006/main">
              <a:ext uri="{FF2B5EF4-FFF2-40B4-BE49-F238E27FC236}">
                <a16:creationId xmlns:a16="http://schemas.microsoft.com/office/drawing/2014/main" id="{D5F0C6A3-97E4-4CDD-91C4-38EB0CDB2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276725"/>
            <a:ext cx="3943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6383E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6383E"/>
                </a:solidFill>
                <a:latin typeface="Malgun Gothic"/>
                <a:ea typeface="Malgun Gothic"/>
                <a:cs typeface="Malgun Gothic"/>
              </a:rPr>
              <a:t>스태미나와 복귀</a:t>
            </a:r>
          </a:p>
        </p:txBody>
      </p:sp>
      <p:sp>
        <p:nvSpPr>
          <p:cNvPr id="9" name="text-hmronq-7">
            <a:extLst xmlns:a="http://schemas.openxmlformats.org/drawingml/2006/main">
              <a:ext uri="{FF2B5EF4-FFF2-40B4-BE49-F238E27FC236}">
                <a16:creationId xmlns:a16="http://schemas.microsoft.com/office/drawing/2014/main" id="{0008E397-31C3-4904-99BD-676B3ED95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705350"/>
            <a:ext cx="39433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6383E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6383E"/>
                </a:solidFill>
                <a:latin typeface="Malgun Gothic"/>
                <a:ea typeface="Malgun Gothic"/>
                <a:cs typeface="Malgun Gothic"/>
              </a:rPr>
              <a:t>최대 100 · 달리기 28/초 소모</a:t>
            </a:r>
          </a:p>
          <a:p xmlns:a="http://schemas.openxmlformats.org/drawingml/2006/main">
            <a:pPr>
              <a:defRPr sz="1725" b="0">
                <a:solidFill>
                  <a:srgbClr val="16383E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6383E"/>
                </a:solidFill>
                <a:latin typeface="Malgun Gothic"/>
                <a:ea typeface="Malgun Gothic"/>
                <a:cs typeface="Malgun Gothic"/>
              </a:rPr>
              <a:t>맵 밖 추락 시 안전 지면 복귀</a:t>
            </a:r>
          </a:p>
        </p:txBody>
      </p:sp>
      <p:sp>
        <p:nvSpPr>
          <p:cNvPr id="10" name="text-hmronq-8">
            <a:extLst xmlns:a="http://schemas.openxmlformats.org/drawingml/2006/main">
              <a:ext uri="{FF2B5EF4-FFF2-40B4-BE49-F238E27FC236}">
                <a16:creationId xmlns:a16="http://schemas.microsoft.com/office/drawing/2014/main" id="{1046E5FB-EBFF-4E50-961B-8D63C608F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48325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7D85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087D85"/>
                </a:solidFill>
                <a:latin typeface="Malgun Gothic"/>
                <a:ea typeface="Malgun Gothic"/>
                <a:cs typeface="Malgun Gothic"/>
              </a:rPr>
              <a:t>걷기 6.5  /  달리기 10.5  ·  회복 20/초  ·  기본 장비 없음</a:t>
            </a:r>
          </a:p>
        </p:txBody>
      </p:sp>
    </p:spTree>
    <p:extLst>
      <p:ext uri="{BB962C8B-B14F-4D97-AF65-F5344CB8AC3E}">
        <p14:creationId xmlns:p14="http://schemas.microsoft.com/office/powerpoint/2010/main" val="37256364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text-m5mfl0-0">
            <a:extLst xmlns:a="http://schemas.openxmlformats.org/drawingml/2006/main">
              <a:ext uri="{FF2B5EF4-FFF2-40B4-BE49-F238E27FC236}">
                <a16:creationId xmlns:a16="http://schemas.microsoft.com/office/drawing/2014/main" id="{070FB10D-A8CE-488F-B1E6-906C2410A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34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6383E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6383E"/>
                </a:solidFill>
                <a:latin typeface="Malgun Gothic"/>
                <a:ea typeface="Malgun Gothic"/>
                <a:cs typeface="Malgun Gothic"/>
              </a:rPr>
              <a:t>생활용품 10종 · 방해 아이템</a:t>
            </a:r>
          </a:p>
        </p:txBody>
      </p:sp>
      <p:sp>
        <p:nvSpPr>
          <p:cNvPr id="2" name="text-m5mfl0-1">
            <a:extLst xmlns:a="http://schemas.openxmlformats.org/drawingml/2006/main">
              <a:ext uri="{FF2B5EF4-FFF2-40B4-BE49-F238E27FC236}">
                <a16:creationId xmlns:a16="http://schemas.microsoft.com/office/drawing/2014/main" id="{057DA3AF-7DA8-47DE-96A1-A854C385B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96C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96C"/>
                </a:solidFill>
                <a:latin typeface="Malgun Gothic"/>
                <a:ea typeface="Malgun Gothic"/>
                <a:cs typeface="Malgun Gothic"/>
              </a:rPr>
              <a:t>Monster Delivery Service  ·  2026.10.06  ·  05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b7811d7c90483e"/>
          <a:stretch xmlns:a="http://schemas.openxmlformats.org/drawingml/2006/main"/>
        </p:blipFill>
        <p:spPr>
          <a:xfrm xmlns:a="http://schemas.openxmlformats.org/drawingml/2006/main">
            <a:off x="571500" y="1662113"/>
            <a:ext cx="2133600" cy="2133600"/>
          </a:xfrm>
          <a:prstGeom xmlns:a="http://schemas.openxmlformats.org/drawingml/2006/main" prst="rect">
            <a:avLst/>
          </a:prstGeom>
        </p:spPr>
      </p:pic>
      <p:sp>
        <p:nvSpPr>
          <p:cNvPr id="4" name="text-m5mfl0-2">
            <a:extLst xmlns:a="http://schemas.openxmlformats.org/drawingml/2006/main">
              <a:ext uri="{FF2B5EF4-FFF2-40B4-BE49-F238E27FC236}">
                <a16:creationId xmlns:a16="http://schemas.microsoft.com/office/drawing/2014/main" id="{E8BD9A30-ABEA-4E6C-944E-39BF2F68D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29075"/>
            <a:ext cx="2133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6383E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6383E"/>
                </a:solidFill>
                <a:latin typeface="Malgun Gothic"/>
                <a:ea typeface="Malgun Gothic"/>
                <a:cs typeface="Malgun Gothic"/>
              </a:rPr>
              <a:t>복싱 글러브</a:t>
            </a:r>
          </a:p>
        </p:txBody>
      </p:sp>
      <p:sp>
        <p:nvSpPr>
          <p:cNvPr id="5" name="text-m5mfl0-3">
            <a:extLst xmlns:a="http://schemas.openxmlformats.org/drawingml/2006/main">
              <a:ext uri="{FF2B5EF4-FFF2-40B4-BE49-F238E27FC236}">
                <a16:creationId xmlns:a16="http://schemas.microsoft.com/office/drawing/2014/main" id="{1C91C212-EA8D-4C0A-9667-FE7C24DAC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62500"/>
            <a:ext cx="21336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96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2696C"/>
                </a:solidFill>
                <a:latin typeface="Malgun Gothic"/>
                <a:ea typeface="Malgun Gothic"/>
                <a:cs typeface="Malgun Gothic"/>
              </a:rPr>
              <a:t>3m 밀기 + 띄우기</a:t>
            </a:r>
          </a:p>
        </p:txBody>
      </p:sp>
      <p:sp>
        <p:nvSpPr>
          <p:cNvPr id="6" name="text-m5mfl0-4">
            <a:extLst xmlns:a="http://schemas.openxmlformats.org/drawingml/2006/main">
              <a:ext uri="{FF2B5EF4-FFF2-40B4-BE49-F238E27FC236}">
                <a16:creationId xmlns:a16="http://schemas.microsoft.com/office/drawing/2014/main" id="{A93FE4BB-6FD8-4B8C-8475-3C37D3677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19750"/>
            <a:ext cx="2133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87D8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087D85"/>
                </a:solidFill>
                <a:latin typeface="Malgun Gothic"/>
                <a:ea typeface="Malgun Gothic"/>
                <a:cs typeface="Malgun Gothic"/>
              </a:rPr>
              <a:t>3회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1a6229405e4ea5"/>
          <a:stretch xmlns:a="http://schemas.openxmlformats.org/drawingml/2006/main"/>
        </p:blipFill>
        <p:spPr>
          <a:xfrm xmlns:a="http://schemas.openxmlformats.org/drawingml/2006/main">
            <a:off x="2838450" y="1662113"/>
            <a:ext cx="2133600" cy="2133600"/>
          </a:xfrm>
          <a:prstGeom xmlns:a="http://schemas.openxmlformats.org/drawingml/2006/main" prst="rect">
            <a:avLst/>
          </a:prstGeom>
        </p:spPr>
      </p:pic>
      <p:sp>
        <p:nvSpPr>
          <p:cNvPr id="8" name="text-m5mfl0-5">
            <a:extLst xmlns:a="http://schemas.openxmlformats.org/drawingml/2006/main">
              <a:ext uri="{FF2B5EF4-FFF2-40B4-BE49-F238E27FC236}">
                <a16:creationId xmlns:a16="http://schemas.microsoft.com/office/drawing/2014/main" id="{3257CB86-956E-49E9-A075-1F19C5AA8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4029075"/>
            <a:ext cx="2133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6383E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6383E"/>
                </a:solidFill>
                <a:latin typeface="Malgun Gothic"/>
                <a:ea typeface="Malgun Gothic"/>
                <a:cs typeface="Malgun Gothic"/>
              </a:rPr>
              <a:t>압축 뚫어뻥</a:t>
            </a:r>
          </a:p>
        </p:txBody>
      </p:sp>
      <p:sp>
        <p:nvSpPr>
          <p:cNvPr id="9" name="text-m5mfl0-6">
            <a:extLst xmlns:a="http://schemas.openxmlformats.org/drawingml/2006/main">
              <a:ext uri="{FF2B5EF4-FFF2-40B4-BE49-F238E27FC236}">
                <a16:creationId xmlns:a16="http://schemas.microsoft.com/office/drawing/2014/main" id="{675234CA-118B-4CB6-A21F-D85D7761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4762500"/>
            <a:ext cx="21336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96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2696C"/>
                </a:solidFill>
                <a:latin typeface="Malgun Gothic"/>
                <a:ea typeface="Malgun Gothic"/>
                <a:cs typeface="Malgun Gothic"/>
              </a:rPr>
              <a:t>9m 상대 당기기</a:t>
            </a:r>
          </a:p>
        </p:txBody>
      </p:sp>
      <p:sp>
        <p:nvSpPr>
          <p:cNvPr id="10" name="text-m5mfl0-7">
            <a:extLst xmlns:a="http://schemas.openxmlformats.org/drawingml/2006/main">
              <a:ext uri="{FF2B5EF4-FFF2-40B4-BE49-F238E27FC236}">
                <a16:creationId xmlns:a16="http://schemas.microsoft.com/office/drawing/2014/main" id="{5D08E250-3250-4C3F-92A7-67F3EB714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5619750"/>
            <a:ext cx="2133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87D8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087D85"/>
                </a:solidFill>
                <a:latin typeface="Malgun Gothic"/>
                <a:ea typeface="Malgun Gothic"/>
                <a:cs typeface="Malgun Gothic"/>
              </a:rPr>
              <a:t>3회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b80f686dda420d"/>
          <a:stretch xmlns:a="http://schemas.openxmlformats.org/drawingml/2006/main"/>
        </p:blipFill>
        <p:spPr>
          <a:xfrm xmlns:a="http://schemas.openxmlformats.org/drawingml/2006/main">
            <a:off x="5105400" y="1662113"/>
            <a:ext cx="2133600" cy="2133600"/>
          </a:xfrm>
          <a:prstGeom xmlns:a="http://schemas.openxmlformats.org/drawingml/2006/main" prst="rect">
            <a:avLst/>
          </a:prstGeom>
        </p:spPr>
      </p:pic>
      <p:sp>
        <p:nvSpPr>
          <p:cNvPr id="12" name="text-m5mfl0-8">
            <a:extLst xmlns:a="http://schemas.openxmlformats.org/drawingml/2006/main">
              <a:ext uri="{FF2B5EF4-FFF2-40B4-BE49-F238E27FC236}">
                <a16:creationId xmlns:a16="http://schemas.microsoft.com/office/drawing/2014/main" id="{14285A49-2B66-4593-98A0-135137E86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029075"/>
            <a:ext cx="2133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6383E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6383E"/>
                </a:solidFill>
                <a:latin typeface="Malgun Gothic"/>
                <a:ea typeface="Malgun Gothic"/>
                <a:cs typeface="Malgun Gothic"/>
              </a:rPr>
              <a:t>휴대용 확성기</a:t>
            </a:r>
          </a:p>
        </p:txBody>
      </p:sp>
      <p:sp>
        <p:nvSpPr>
          <p:cNvPr id="13" name="text-m5mfl0-9">
            <a:extLst xmlns:a="http://schemas.openxmlformats.org/drawingml/2006/main">
              <a:ext uri="{FF2B5EF4-FFF2-40B4-BE49-F238E27FC236}">
                <a16:creationId xmlns:a16="http://schemas.microsoft.com/office/drawing/2014/main" id="{43E52D96-1B0D-4F49-A965-1F982EEEC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762500"/>
            <a:ext cx="21336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96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2696C"/>
                </a:solidFill>
                <a:latin typeface="Malgun Gothic"/>
                <a:ea typeface="Malgun Gothic"/>
                <a:cs typeface="Malgun Gothic"/>
              </a:rPr>
              <a:t>4m · 0.8초 기절</a:t>
            </a:r>
          </a:p>
        </p:txBody>
      </p:sp>
      <p:sp>
        <p:nvSpPr>
          <p:cNvPr id="14" name="text-m5mfl0-10">
            <a:extLst xmlns:a="http://schemas.openxmlformats.org/drawingml/2006/main">
              <a:ext uri="{FF2B5EF4-FFF2-40B4-BE49-F238E27FC236}">
                <a16:creationId xmlns:a16="http://schemas.microsoft.com/office/drawing/2014/main" id="{D0C1130E-94CF-453B-94CE-D029E01E6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5619750"/>
            <a:ext cx="2133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87D8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087D85"/>
                </a:solidFill>
                <a:latin typeface="Malgun Gothic"/>
                <a:ea typeface="Malgun Gothic"/>
                <a:cs typeface="Malgun Gothic"/>
              </a:rPr>
              <a:t>2회</a:t>
            </a:r>
          </a:p>
        </p:txBody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6495eafd5a4e19"/>
          <a:stretch xmlns:a="http://schemas.openxmlformats.org/drawingml/2006/main"/>
        </p:blipFill>
        <p:spPr>
          <a:xfrm xmlns:a="http://schemas.openxmlformats.org/drawingml/2006/main">
            <a:off x="7372350" y="1662113"/>
            <a:ext cx="2133600" cy="2133600"/>
          </a:xfrm>
          <a:prstGeom xmlns:a="http://schemas.openxmlformats.org/drawingml/2006/main" prst="rect">
            <a:avLst/>
          </a:prstGeom>
        </p:spPr>
      </p:pic>
      <p:sp>
        <p:nvSpPr>
          <p:cNvPr id="16" name="text-m5mfl0-11">
            <a:extLst xmlns:a="http://schemas.openxmlformats.org/drawingml/2006/main">
              <a:ext uri="{FF2B5EF4-FFF2-40B4-BE49-F238E27FC236}">
                <a16:creationId xmlns:a16="http://schemas.microsoft.com/office/drawing/2014/main" id="{28CD56D2-CE4B-4771-97F9-1C9ED7F75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029075"/>
            <a:ext cx="2133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6383E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6383E"/>
                </a:solidFill>
                <a:latin typeface="Malgun Gothic"/>
                <a:ea typeface="Malgun Gothic"/>
                <a:cs typeface="Malgun Gothic"/>
              </a:rPr>
              <a:t>포장용 테이프</a:t>
            </a:r>
          </a:p>
        </p:txBody>
      </p:sp>
      <p:sp>
        <p:nvSpPr>
          <p:cNvPr id="17" name="text-m5mfl0-12">
            <a:extLst xmlns:a="http://schemas.openxmlformats.org/drawingml/2006/main">
              <a:ext uri="{FF2B5EF4-FFF2-40B4-BE49-F238E27FC236}">
                <a16:creationId xmlns:a16="http://schemas.microsoft.com/office/drawing/2014/main" id="{1676126B-AAAA-45D7-BF21-4509622EF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762500"/>
            <a:ext cx="21336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96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2696C"/>
                </a:solidFill>
                <a:latin typeface="Malgun Gothic"/>
                <a:ea typeface="Malgun Gothic"/>
                <a:cs typeface="Malgun Gothic"/>
              </a:rPr>
              <a:t>반경 3m · 40% 슬로우</a:t>
            </a:r>
          </a:p>
        </p:txBody>
      </p:sp>
      <p:sp>
        <p:nvSpPr>
          <p:cNvPr id="18" name="text-m5mfl0-13">
            <a:extLst xmlns:a="http://schemas.openxmlformats.org/drawingml/2006/main">
              <a:ext uri="{FF2B5EF4-FFF2-40B4-BE49-F238E27FC236}">
                <a16:creationId xmlns:a16="http://schemas.microsoft.com/office/drawing/2014/main" id="{0F768F75-4A97-4E7C-A7CE-7E5280392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5619750"/>
            <a:ext cx="2133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87D8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087D85"/>
                </a:solidFill>
                <a:latin typeface="Malgun Gothic"/>
                <a:ea typeface="Malgun Gothic"/>
                <a:cs typeface="Malgun Gothic"/>
              </a:rPr>
              <a:t>2회</a:t>
            </a:r>
          </a:p>
        </p:txBody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41ba1351334580"/>
          <a:stretch xmlns:a="http://schemas.openxmlformats.org/drawingml/2006/main"/>
        </p:blipFill>
        <p:spPr>
          <a:xfrm xmlns:a="http://schemas.openxmlformats.org/drawingml/2006/main">
            <a:off x="9639300" y="1662113"/>
            <a:ext cx="2133600" cy="2133600"/>
          </a:xfrm>
          <a:prstGeom xmlns:a="http://schemas.openxmlformats.org/drawingml/2006/main" prst="rect">
            <a:avLst/>
          </a:prstGeom>
        </p:spPr>
      </p:pic>
      <p:sp>
        <p:nvSpPr>
          <p:cNvPr id="20" name="text-m5mfl0-14">
            <a:extLst xmlns:a="http://schemas.openxmlformats.org/drawingml/2006/main">
              <a:ext uri="{FF2B5EF4-FFF2-40B4-BE49-F238E27FC236}">
                <a16:creationId xmlns:a16="http://schemas.microsoft.com/office/drawing/2014/main" id="{C96CB5AD-7612-4352-9377-46BA57C43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029075"/>
            <a:ext cx="2133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6383E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6383E"/>
                </a:solidFill>
                <a:latin typeface="Malgun Gothic"/>
                <a:ea typeface="Malgun Gothic"/>
                <a:cs typeface="Malgun Gothic"/>
              </a:rPr>
              <a:t>무선 선풍기</a:t>
            </a:r>
          </a:p>
        </p:txBody>
      </p:sp>
      <p:sp>
        <p:nvSpPr>
          <p:cNvPr id="21" name="text-m5mfl0-15">
            <a:extLst xmlns:a="http://schemas.openxmlformats.org/drawingml/2006/main">
              <a:ext uri="{FF2B5EF4-FFF2-40B4-BE49-F238E27FC236}">
                <a16:creationId xmlns:a16="http://schemas.microsoft.com/office/drawing/2014/main" id="{9BF2EEAE-669C-401A-84CF-2469B0385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762500"/>
            <a:ext cx="21336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96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2696C"/>
                </a:solidFill>
                <a:latin typeface="Malgun Gothic"/>
                <a:ea typeface="Malgun Gothic"/>
                <a:cs typeface="Malgun Gothic"/>
              </a:rPr>
              <a:t>6m 유지형 밀기</a:t>
            </a:r>
          </a:p>
        </p:txBody>
      </p:sp>
      <p:sp>
        <p:nvSpPr>
          <p:cNvPr id="22" name="text-m5mfl0-16">
            <a:extLst xmlns:a="http://schemas.openxmlformats.org/drawingml/2006/main">
              <a:ext uri="{FF2B5EF4-FFF2-40B4-BE49-F238E27FC236}">
                <a16:creationId xmlns:a16="http://schemas.microsoft.com/office/drawing/2014/main" id="{528B2D0D-91EB-4A0B-8BDC-B8566B279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619750"/>
            <a:ext cx="2133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87D8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087D85"/>
                </a:solidFill>
                <a:latin typeface="Malgun Gothic"/>
                <a:ea typeface="Malgun Gothic"/>
                <a:cs typeface="Malgun Gothic"/>
              </a:rPr>
              <a:t>배터리 4초</a:t>
            </a:r>
          </a:p>
        </p:txBody>
      </p:sp>
      <p:sp>
        <p:nvSpPr>
          <p:cNvPr id="23" name="text-m5mfl0-17">
            <a:extLst xmlns:a="http://schemas.openxmlformats.org/drawingml/2006/main">
              <a:ext uri="{FF2B5EF4-FFF2-40B4-BE49-F238E27FC236}">
                <a16:creationId xmlns:a16="http://schemas.microsoft.com/office/drawing/2014/main" id="{EAB28BB2-0F57-4045-B541-FB4329DA0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087D8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087D85"/>
                </a:solidFill>
                <a:latin typeface="Malgun Gothic"/>
                <a:ea typeface="Malgun Gothic"/>
                <a:cs typeface="Malgun Gothic"/>
              </a:rPr>
              <a:t>아이템 로직은 준비됨 · 현재 플레이에서는 픽업·사용·슬롯 HUD를 숨김</a:t>
            </a:r>
          </a:p>
        </p:txBody>
      </p:sp>
    </p:spTree>
    <p:extLst>
      <p:ext uri="{BB962C8B-B14F-4D97-AF65-F5344CB8AC3E}">
        <p14:creationId xmlns:p14="http://schemas.microsoft.com/office/powerpoint/2010/main" val="75951431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text-0vtq1l-0">
            <a:extLst xmlns:a="http://schemas.openxmlformats.org/drawingml/2006/main">
              <a:ext uri="{FF2B5EF4-FFF2-40B4-BE49-F238E27FC236}">
                <a16:creationId xmlns:a16="http://schemas.microsoft.com/office/drawing/2014/main" id="{A862D8D5-D44D-4692-82B0-12055DB16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34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6383E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6383E"/>
                </a:solidFill>
                <a:latin typeface="Malgun Gothic"/>
                <a:ea typeface="Malgun Gothic"/>
                <a:cs typeface="Malgun Gothic"/>
              </a:rPr>
              <a:t>생활용품 10종 · 강화와 설치</a:t>
            </a:r>
          </a:p>
        </p:txBody>
      </p:sp>
      <p:sp>
        <p:nvSpPr>
          <p:cNvPr id="2" name="text-0vtq1l-1">
            <a:extLst xmlns:a="http://schemas.openxmlformats.org/drawingml/2006/main">
              <a:ext uri="{FF2B5EF4-FFF2-40B4-BE49-F238E27FC236}">
                <a16:creationId xmlns:a16="http://schemas.microsoft.com/office/drawing/2014/main" id="{D6D35EAA-BB71-409D-A891-9F3F10CFF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96C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96C"/>
                </a:solidFill>
                <a:latin typeface="Malgun Gothic"/>
                <a:ea typeface="Malgun Gothic"/>
                <a:cs typeface="Malgun Gothic"/>
              </a:rPr>
              <a:t>Monster Delivery Service  ·  2026.10.06  ·  06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d5d106250c4fc7"/>
          <a:stretch xmlns:a="http://schemas.openxmlformats.org/drawingml/2006/main"/>
        </p:blipFill>
        <p:spPr>
          <a:xfrm xmlns:a="http://schemas.openxmlformats.org/drawingml/2006/main">
            <a:off x="571500" y="1662113"/>
            <a:ext cx="2133600" cy="2133600"/>
          </a:xfrm>
          <a:prstGeom xmlns:a="http://schemas.openxmlformats.org/drawingml/2006/main" prst="rect">
            <a:avLst/>
          </a:prstGeom>
        </p:spPr>
      </p:pic>
      <p:sp>
        <p:nvSpPr>
          <p:cNvPr id="4" name="text-0vtq1l-2">
            <a:extLst xmlns:a="http://schemas.openxmlformats.org/drawingml/2006/main">
              <a:ext uri="{FF2B5EF4-FFF2-40B4-BE49-F238E27FC236}">
                <a16:creationId xmlns:a16="http://schemas.microsoft.com/office/drawing/2014/main" id="{B706F7BE-5473-4A2B-88FC-F7225BF9B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29075"/>
            <a:ext cx="2133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6383E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6383E"/>
                </a:solidFill>
                <a:latin typeface="Malgun Gothic"/>
                <a:ea typeface="Malgun Gothic"/>
                <a:cs typeface="Malgun Gothic"/>
              </a:rPr>
              <a:t>러닝화</a:t>
            </a:r>
          </a:p>
        </p:txBody>
      </p:sp>
      <p:sp>
        <p:nvSpPr>
          <p:cNvPr id="5" name="text-0vtq1l-3">
            <a:extLst xmlns:a="http://schemas.openxmlformats.org/drawingml/2006/main">
              <a:ext uri="{FF2B5EF4-FFF2-40B4-BE49-F238E27FC236}">
                <a16:creationId xmlns:a16="http://schemas.microsoft.com/office/drawing/2014/main" id="{29203DCB-1D37-4F66-9FC1-505D766B0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62500"/>
            <a:ext cx="21336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96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2696C"/>
                </a:solidFill>
                <a:latin typeface="Malgun Gothic"/>
                <a:ea typeface="Malgun Gothic"/>
                <a:cs typeface="Malgun Gothic"/>
              </a:rPr>
              <a:t>5초 · 이동 속도 +40%</a:t>
            </a:r>
          </a:p>
        </p:txBody>
      </p:sp>
      <p:sp>
        <p:nvSpPr>
          <p:cNvPr id="6" name="text-0vtq1l-4">
            <a:extLst xmlns:a="http://schemas.openxmlformats.org/drawingml/2006/main">
              <a:ext uri="{FF2B5EF4-FFF2-40B4-BE49-F238E27FC236}">
                <a16:creationId xmlns:a16="http://schemas.microsoft.com/office/drawing/2014/main" id="{E7EFC0D9-B7B4-4F5A-B38E-61F33BA7F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19750"/>
            <a:ext cx="2133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87D8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087D85"/>
                </a:solidFill>
                <a:latin typeface="Malgun Gothic"/>
                <a:ea typeface="Malgun Gothic"/>
                <a:cs typeface="Malgun Gothic"/>
              </a:rPr>
              <a:t>1회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8581e1aa2b4864"/>
          <a:stretch xmlns:a="http://schemas.openxmlformats.org/drawingml/2006/main"/>
        </p:blipFill>
        <p:spPr>
          <a:xfrm xmlns:a="http://schemas.openxmlformats.org/drawingml/2006/main">
            <a:off x="2838450" y="1662113"/>
            <a:ext cx="2133600" cy="2133600"/>
          </a:xfrm>
          <a:prstGeom xmlns:a="http://schemas.openxmlformats.org/drawingml/2006/main" prst="rect">
            <a:avLst/>
          </a:prstGeom>
        </p:spPr>
      </p:pic>
      <p:sp>
        <p:nvSpPr>
          <p:cNvPr id="8" name="text-0vtq1l-5">
            <a:extLst xmlns:a="http://schemas.openxmlformats.org/drawingml/2006/main">
              <a:ext uri="{FF2B5EF4-FFF2-40B4-BE49-F238E27FC236}">
                <a16:creationId xmlns:a16="http://schemas.microsoft.com/office/drawing/2014/main" id="{BD0EDB95-35AB-4665-932A-B1CC30594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4029075"/>
            <a:ext cx="2133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6383E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6383E"/>
                </a:solidFill>
                <a:latin typeface="Malgun Gothic"/>
                <a:ea typeface="Malgun Gothic"/>
                <a:cs typeface="Malgun Gothic"/>
              </a:rPr>
              <a:t>에어캡</a:t>
            </a:r>
          </a:p>
        </p:txBody>
      </p:sp>
      <p:sp>
        <p:nvSpPr>
          <p:cNvPr id="9" name="text-0vtq1l-6">
            <a:extLst xmlns:a="http://schemas.openxmlformats.org/drawingml/2006/main">
              <a:ext uri="{FF2B5EF4-FFF2-40B4-BE49-F238E27FC236}">
                <a16:creationId xmlns:a16="http://schemas.microsoft.com/office/drawing/2014/main" id="{7A5FFC3A-C907-425A-86FD-0433E8875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4762500"/>
            <a:ext cx="21336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96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2696C"/>
                </a:solidFill>
                <a:latin typeface="Malgun Gothic"/>
                <a:ea typeface="Malgun Gothic"/>
                <a:cs typeface="Malgun Gothic"/>
              </a:rPr>
              <a:t>8초 내 기절·넉백 1회 방어</a:t>
            </a:r>
          </a:p>
        </p:txBody>
      </p:sp>
      <p:sp>
        <p:nvSpPr>
          <p:cNvPr id="10" name="text-0vtq1l-7">
            <a:extLst xmlns:a="http://schemas.openxmlformats.org/drawingml/2006/main">
              <a:ext uri="{FF2B5EF4-FFF2-40B4-BE49-F238E27FC236}">
                <a16:creationId xmlns:a16="http://schemas.microsoft.com/office/drawing/2014/main" id="{6674FDCF-CD68-4178-B17C-CDB4F2B8B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5619750"/>
            <a:ext cx="2133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87D8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087D85"/>
                </a:solidFill>
                <a:latin typeface="Malgun Gothic"/>
                <a:ea typeface="Malgun Gothic"/>
                <a:cs typeface="Malgun Gothic"/>
              </a:rPr>
              <a:t>1회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75f0ff797d4e82"/>
          <a:stretch xmlns:a="http://schemas.openxmlformats.org/drawingml/2006/main"/>
        </p:blipFill>
        <p:spPr>
          <a:xfrm xmlns:a="http://schemas.openxmlformats.org/drawingml/2006/main">
            <a:off x="5105400" y="1662113"/>
            <a:ext cx="2133600" cy="2133600"/>
          </a:xfrm>
          <a:prstGeom xmlns:a="http://schemas.openxmlformats.org/drawingml/2006/main" prst="rect">
            <a:avLst/>
          </a:prstGeom>
        </p:spPr>
      </p:pic>
      <p:sp>
        <p:nvSpPr>
          <p:cNvPr id="12" name="text-0vtq1l-8">
            <a:extLst xmlns:a="http://schemas.openxmlformats.org/drawingml/2006/main">
              <a:ext uri="{FF2B5EF4-FFF2-40B4-BE49-F238E27FC236}">
                <a16:creationId xmlns:a16="http://schemas.microsoft.com/office/drawing/2014/main" id="{D81F8AC3-0A85-43CA-884E-EE06825C7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029075"/>
            <a:ext cx="2133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6383E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6383E"/>
                </a:solidFill>
                <a:latin typeface="Malgun Gothic"/>
                <a:ea typeface="Malgun Gothic"/>
                <a:cs typeface="Malgun Gothic"/>
              </a:rPr>
              <a:t>작업용 장갑</a:t>
            </a:r>
          </a:p>
        </p:txBody>
      </p:sp>
      <p:sp>
        <p:nvSpPr>
          <p:cNvPr id="13" name="text-0vtq1l-9">
            <a:extLst xmlns:a="http://schemas.openxmlformats.org/drawingml/2006/main">
              <a:ext uri="{FF2B5EF4-FFF2-40B4-BE49-F238E27FC236}">
                <a16:creationId xmlns:a16="http://schemas.microsoft.com/office/drawing/2014/main" id="{6D12A4AC-DA37-4774-86FC-B2824EBF0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762500"/>
            <a:ext cx="21336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96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2696C"/>
                </a:solidFill>
                <a:latin typeface="Malgun Gothic"/>
                <a:ea typeface="Malgun Gothic"/>
                <a:cs typeface="Malgun Gothic"/>
              </a:rPr>
              <a:t>다음 점령 3초 → 2초</a:t>
            </a:r>
          </a:p>
        </p:txBody>
      </p:sp>
      <p:sp>
        <p:nvSpPr>
          <p:cNvPr id="14" name="text-0vtq1l-10">
            <a:extLst xmlns:a="http://schemas.openxmlformats.org/drawingml/2006/main">
              <a:ext uri="{FF2B5EF4-FFF2-40B4-BE49-F238E27FC236}">
                <a16:creationId xmlns:a16="http://schemas.microsoft.com/office/drawing/2014/main" id="{8D382394-77A2-4C5A-9832-A1E977B62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5619750"/>
            <a:ext cx="2133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87D8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087D85"/>
                </a:solidFill>
                <a:latin typeface="Malgun Gothic"/>
                <a:ea typeface="Malgun Gothic"/>
                <a:cs typeface="Malgun Gothic"/>
              </a:rPr>
              <a:t>성공 시 소모</a:t>
            </a:r>
          </a:p>
        </p:txBody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a3612425314c4c"/>
          <a:stretch xmlns:a="http://schemas.openxmlformats.org/drawingml/2006/main"/>
        </p:blipFill>
        <p:spPr>
          <a:xfrm xmlns:a="http://schemas.openxmlformats.org/drawingml/2006/main">
            <a:off x="7372350" y="1662113"/>
            <a:ext cx="2133600" cy="2133600"/>
          </a:xfrm>
          <a:prstGeom xmlns:a="http://schemas.openxmlformats.org/drawingml/2006/main" prst="rect">
            <a:avLst/>
          </a:prstGeom>
        </p:spPr>
      </p:pic>
      <p:sp>
        <p:nvSpPr>
          <p:cNvPr id="16" name="text-0vtq1l-11">
            <a:extLst xmlns:a="http://schemas.openxmlformats.org/drawingml/2006/main">
              <a:ext uri="{FF2B5EF4-FFF2-40B4-BE49-F238E27FC236}">
                <a16:creationId xmlns:a16="http://schemas.microsoft.com/office/drawing/2014/main" id="{CEA492C0-4F99-4D58-9CC1-42869E1A4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029075"/>
            <a:ext cx="2133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6383E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6383E"/>
                </a:solidFill>
                <a:latin typeface="Malgun Gothic"/>
                <a:ea typeface="Malgun Gothic"/>
                <a:cs typeface="Malgun Gothic"/>
              </a:rPr>
              <a:t>프린터 잉크</a:t>
            </a:r>
          </a:p>
        </p:txBody>
      </p:sp>
      <p:sp>
        <p:nvSpPr>
          <p:cNvPr id="17" name="text-0vtq1l-12">
            <a:extLst xmlns:a="http://schemas.openxmlformats.org/drawingml/2006/main">
              <a:ext uri="{FF2B5EF4-FFF2-40B4-BE49-F238E27FC236}">
                <a16:creationId xmlns:a16="http://schemas.microsoft.com/office/drawing/2014/main" id="{F6C6041B-B581-4C32-9745-140EAF60D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762500"/>
            <a:ext cx="21336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96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2696C"/>
                </a:solidFill>
                <a:latin typeface="Malgun Gothic"/>
                <a:ea typeface="Malgun Gothic"/>
                <a:cs typeface="Malgun Gothic"/>
              </a:rPr>
              <a:t>반경 3m · 4초 공격 시야 차단</a:t>
            </a:r>
          </a:p>
        </p:txBody>
      </p:sp>
      <p:sp>
        <p:nvSpPr>
          <p:cNvPr id="18" name="text-0vtq1l-13">
            <a:extLst xmlns:a="http://schemas.openxmlformats.org/drawingml/2006/main">
              <a:ext uri="{FF2B5EF4-FFF2-40B4-BE49-F238E27FC236}">
                <a16:creationId xmlns:a16="http://schemas.microsoft.com/office/drawing/2014/main" id="{14D6A6AC-7148-4FB9-AADB-B828A93C4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5619750"/>
            <a:ext cx="2133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87D8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087D85"/>
                </a:solidFill>
                <a:latin typeface="Malgun Gothic"/>
                <a:ea typeface="Malgun Gothic"/>
                <a:cs typeface="Malgun Gothic"/>
              </a:rPr>
              <a:t>2회</a:t>
            </a:r>
          </a:p>
        </p:txBody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767cf5260440c9"/>
          <a:stretch xmlns:a="http://schemas.openxmlformats.org/drawingml/2006/main"/>
        </p:blipFill>
        <p:spPr>
          <a:xfrm xmlns:a="http://schemas.openxmlformats.org/drawingml/2006/main">
            <a:off x="9639300" y="1662113"/>
            <a:ext cx="2133600" cy="2133600"/>
          </a:xfrm>
          <a:prstGeom xmlns:a="http://schemas.openxmlformats.org/drawingml/2006/main" prst="rect">
            <a:avLst/>
          </a:prstGeom>
        </p:spPr>
      </p:pic>
      <p:sp>
        <p:nvSpPr>
          <p:cNvPr id="20" name="text-0vtq1l-14">
            <a:extLst xmlns:a="http://schemas.openxmlformats.org/drawingml/2006/main">
              <a:ext uri="{FF2B5EF4-FFF2-40B4-BE49-F238E27FC236}">
                <a16:creationId xmlns:a16="http://schemas.microsoft.com/office/drawing/2014/main" id="{46361ECD-7A0F-4625-B96B-D0818E408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029075"/>
            <a:ext cx="2133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6383E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6383E"/>
                </a:solidFill>
                <a:latin typeface="Malgun Gothic"/>
                <a:ea typeface="Malgun Gothic"/>
                <a:cs typeface="Malgun Gothic"/>
              </a:rPr>
              <a:t>미니 트램펄린</a:t>
            </a:r>
          </a:p>
        </p:txBody>
      </p:sp>
      <p:sp>
        <p:nvSpPr>
          <p:cNvPr id="21" name="text-0vtq1l-15">
            <a:extLst xmlns:a="http://schemas.openxmlformats.org/drawingml/2006/main">
              <a:ext uri="{FF2B5EF4-FFF2-40B4-BE49-F238E27FC236}">
                <a16:creationId xmlns:a16="http://schemas.microsoft.com/office/drawing/2014/main" id="{7E9AD8AF-185C-4D1E-87F1-6C2A956E8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762500"/>
            <a:ext cx="21336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96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2696C"/>
                </a:solidFill>
                <a:latin typeface="Malgun Gothic"/>
                <a:ea typeface="Malgun Gothic"/>
                <a:cs typeface="Malgun Gothic"/>
              </a:rPr>
              <a:t>8초 설치 · 누구나 발사</a:t>
            </a:r>
          </a:p>
        </p:txBody>
      </p:sp>
      <p:sp>
        <p:nvSpPr>
          <p:cNvPr id="22" name="text-0vtq1l-16">
            <a:extLst xmlns:a="http://schemas.openxmlformats.org/drawingml/2006/main">
              <a:ext uri="{FF2B5EF4-FFF2-40B4-BE49-F238E27FC236}">
                <a16:creationId xmlns:a16="http://schemas.microsoft.com/office/drawing/2014/main" id="{B47AFC22-B88E-46A8-AE59-6F8C6E8B9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619750"/>
            <a:ext cx="2133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87D8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087D85"/>
                </a:solidFill>
                <a:latin typeface="Malgun Gothic"/>
                <a:ea typeface="Malgun Gothic"/>
                <a:cs typeface="Malgun Gothic"/>
              </a:rPr>
              <a:t>1회</a:t>
            </a:r>
          </a:p>
        </p:txBody>
      </p:sp>
      <p:sp>
        <p:nvSpPr>
          <p:cNvPr id="23" name="text-0vtq1l-17">
            <a:extLst xmlns:a="http://schemas.openxmlformats.org/drawingml/2006/main">
              <a:ext uri="{FF2B5EF4-FFF2-40B4-BE49-F238E27FC236}">
                <a16:creationId xmlns:a16="http://schemas.microsoft.com/office/drawing/2014/main" id="{B8639B27-8E34-4DEB-8A88-644253956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087D8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087D85"/>
                </a:solidFill>
                <a:latin typeface="Malgun Gothic"/>
                <a:ea typeface="Malgun Gothic"/>
                <a:cs typeface="Malgun Gothic"/>
              </a:rPr>
              <a:t>아이템 로직은 준비됨 · 현재 플레이에서는 픽업·사용·슬롯 HUD를 숨김</a:t>
            </a:r>
          </a:p>
        </p:txBody>
      </p:sp>
    </p:spTree>
    <p:extLst>
      <p:ext uri="{BB962C8B-B14F-4D97-AF65-F5344CB8AC3E}">
        <p14:creationId xmlns:p14="http://schemas.microsoft.com/office/powerpoint/2010/main" val="196453314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y0hc9q-0">
            <a:extLst xmlns:a="http://schemas.openxmlformats.org/drawingml/2006/main">
              <a:ext uri="{FF2B5EF4-FFF2-40B4-BE49-F238E27FC236}">
                <a16:creationId xmlns:a16="http://schemas.microsoft.com/office/drawing/2014/main" id="{877630F5-2260-47D9-8DCA-2BE26738B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34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6383E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6383E"/>
                </a:solidFill>
                <a:latin typeface="Malgun Gothic"/>
                <a:ea typeface="Malgun Gothic"/>
                <a:cs typeface="Malgun Gothic"/>
              </a:rPr>
              <a:t>비살상 상태와 일회성 소모</a:t>
            </a:r>
          </a:p>
        </p:txBody>
      </p:sp>
      <p:sp>
        <p:nvSpPr>
          <p:cNvPr id="2" name="text-y0hc9q-1">
            <a:extLst xmlns:a="http://schemas.openxmlformats.org/drawingml/2006/main">
              <a:ext uri="{FF2B5EF4-FFF2-40B4-BE49-F238E27FC236}">
                <a16:creationId xmlns:a16="http://schemas.microsoft.com/office/drawing/2014/main" id="{7B6B7160-3245-4D7F-BA82-A2F0F9445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96C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96C"/>
                </a:solidFill>
                <a:latin typeface="Malgun Gothic"/>
                <a:ea typeface="Malgun Gothic"/>
                <a:cs typeface="Malgun Gothic"/>
              </a:rPr>
              <a:t>Monster Delivery Service  ·  2026.10.06  ·  07</a:t>
            </a:r>
          </a:p>
        </p:txBody>
      </p:sp>
      <p:sp>
        <p:nvSpPr>
          <p:cNvPr id="3" name="text-y0hc9q-2">
            <a:extLst xmlns:a="http://schemas.openxmlformats.org/drawingml/2006/main">
              <a:ext uri="{FF2B5EF4-FFF2-40B4-BE49-F238E27FC236}">
                <a16:creationId xmlns:a16="http://schemas.microsoft.com/office/drawing/2014/main" id="{337B5EBC-A136-40B0-A9EB-C61E32A82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1076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6383E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6383E"/>
                </a:solidFill>
                <a:latin typeface="Malgun Gothic"/>
                <a:ea typeface="Malgun Gothic"/>
                <a:cs typeface="Malgun Gothic"/>
              </a:rPr>
              <a:t>기절 반복 방지</a:t>
            </a:r>
          </a:p>
        </p:txBody>
      </p:sp>
      <p:sp>
        <p:nvSpPr>
          <p:cNvPr id="4" name="text-y0hc9q-3">
            <a:extLst xmlns:a="http://schemas.openxmlformats.org/drawingml/2006/main">
              <a:ext uri="{FF2B5EF4-FFF2-40B4-BE49-F238E27FC236}">
                <a16:creationId xmlns:a16="http://schemas.microsoft.com/office/drawing/2014/main" id="{63677FAC-DD2D-435A-A48F-103666240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1076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6383E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6383E"/>
                </a:solidFill>
                <a:latin typeface="Malgun Gothic"/>
                <a:ea typeface="Malgun Gothic"/>
                <a:cs typeface="Malgun Gothic"/>
              </a:rPr>
              <a:t>기절 해제 후 2초 면역. 면역 중 기절은 에어캡을 소모하지 않는다.</a:t>
            </a:r>
          </a:p>
        </p:txBody>
      </p:sp>
      <p:sp>
        <p:nvSpPr>
          <p:cNvPr id="5" name="text-y0hc9q-4">
            <a:extLst xmlns:a="http://schemas.openxmlformats.org/drawingml/2006/main">
              <a:ext uri="{FF2B5EF4-FFF2-40B4-BE49-F238E27FC236}">
                <a16:creationId xmlns:a16="http://schemas.microsoft.com/office/drawing/2014/main" id="{38EF7123-6925-4295-8C74-91ECCDC08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28925"/>
            <a:ext cx="1076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6383E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6383E"/>
                </a:solidFill>
                <a:latin typeface="Malgun Gothic"/>
                <a:ea typeface="Malgun Gothic"/>
                <a:cs typeface="Malgun Gothic"/>
              </a:rPr>
              <a:t>연속 강제 이동 완화</a:t>
            </a:r>
          </a:p>
        </p:txBody>
      </p:sp>
      <p:sp>
        <p:nvSpPr>
          <p:cNvPr id="6" name="text-y0hc9q-5">
            <a:extLst xmlns:a="http://schemas.openxmlformats.org/drawingml/2006/main">
              <a:ext uri="{FF2B5EF4-FFF2-40B4-BE49-F238E27FC236}">
                <a16:creationId xmlns:a16="http://schemas.microsoft.com/office/drawing/2014/main" id="{4A38AB1F-366A-4148-A6CC-32980C635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57550"/>
            <a:ext cx="1076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6383E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6383E"/>
                </a:solidFill>
                <a:latin typeface="Malgun Gothic"/>
                <a:ea typeface="Malgun Gothic"/>
                <a:cs typeface="Malgun Gothic"/>
              </a:rPr>
              <a:t>0.8초 이내 추가 밀기·당기기 힘은 35%로 줄인다.</a:t>
            </a:r>
          </a:p>
        </p:txBody>
      </p:sp>
      <p:sp>
        <p:nvSpPr>
          <p:cNvPr id="7" name="text-y0hc9q-6">
            <a:extLst xmlns:a="http://schemas.openxmlformats.org/drawingml/2006/main">
              <a:ext uri="{FF2B5EF4-FFF2-40B4-BE49-F238E27FC236}">
                <a16:creationId xmlns:a16="http://schemas.microsoft.com/office/drawing/2014/main" id="{EED2B238-3699-4BD9-B27D-A5663C8E8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6225"/>
            <a:ext cx="1076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6383E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6383E"/>
                </a:solidFill>
                <a:latin typeface="Malgun Gothic"/>
                <a:ea typeface="Malgun Gothic"/>
                <a:cs typeface="Malgun Gothic"/>
              </a:rPr>
              <a:t>이동 배율과 점령 가능 상태</a:t>
            </a:r>
          </a:p>
        </p:txBody>
      </p:sp>
      <p:sp>
        <p:nvSpPr>
          <p:cNvPr id="8" name="text-y0hc9q-7">
            <a:extLst xmlns:a="http://schemas.openxmlformats.org/drawingml/2006/main">
              <a:ext uri="{FF2B5EF4-FFF2-40B4-BE49-F238E27FC236}">
                <a16:creationId xmlns:a16="http://schemas.microsoft.com/office/drawing/2014/main" id="{EB0DE9FB-E681-4BED-8C93-2E5F63AA4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14850"/>
            <a:ext cx="1076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6383E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6383E"/>
                </a:solidFill>
                <a:latin typeface="Malgun Gothic"/>
                <a:ea typeface="Malgun Gothic"/>
                <a:cs typeface="Malgun Gothic"/>
              </a:rPr>
              <a:t>슬로우 ×0.6, 러닝화 ×1.4. 기절·강제 이동·사용 중에는 점령 불가.</a:t>
            </a:r>
          </a:p>
        </p:txBody>
      </p:sp>
      <p:sp>
        <p:nvSpPr>
          <p:cNvPr id="9" name="text-y0hc9q-8">
            <a:extLst xmlns:a="http://schemas.openxmlformats.org/drawingml/2006/main">
              <a:ext uri="{FF2B5EF4-FFF2-40B4-BE49-F238E27FC236}">
                <a16:creationId xmlns:a16="http://schemas.microsoft.com/office/drawing/2014/main" id="{7E302DAF-1377-4555-A92B-78722C0B0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810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87D85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087D85"/>
                </a:solidFill>
                <a:latin typeface="Malgun Gothic"/>
                <a:ea typeface="Malgun Gothic"/>
                <a:cs typeface="Malgun Gothic"/>
              </a:rPr>
              <a:t>슬롯 3칸  ·  소진 / G 폐기 후 빈손  ·  자동 재지급 없음</a:t>
            </a:r>
          </a:p>
        </p:txBody>
      </p:sp>
    </p:spTree>
    <p:extLst>
      <p:ext uri="{BB962C8B-B14F-4D97-AF65-F5344CB8AC3E}">
        <p14:creationId xmlns:p14="http://schemas.microsoft.com/office/powerpoint/2010/main" val="148346495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9vd527-0">
            <a:extLst xmlns:a="http://schemas.openxmlformats.org/drawingml/2006/main">
              <a:ext uri="{FF2B5EF4-FFF2-40B4-BE49-F238E27FC236}">
                <a16:creationId xmlns:a16="http://schemas.microsoft.com/office/drawing/2014/main" id="{52B29822-40A7-47AF-8F1C-5DE4B2AEF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34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6383E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6383E"/>
                </a:solidFill>
                <a:latin typeface="Malgun Gothic"/>
                <a:ea typeface="Malgun Gothic"/>
                <a:cs typeface="Malgun Gothic"/>
              </a:rPr>
              <a:t>조준선과 거리로 대상 선택</a:t>
            </a:r>
          </a:p>
        </p:txBody>
      </p:sp>
      <p:sp>
        <p:nvSpPr>
          <p:cNvPr id="2" name="text-9vd527-1">
            <a:extLst xmlns:a="http://schemas.openxmlformats.org/drawingml/2006/main">
              <a:ext uri="{FF2B5EF4-FFF2-40B4-BE49-F238E27FC236}">
                <a16:creationId xmlns:a16="http://schemas.microsoft.com/office/drawing/2014/main" id="{38C89AF1-DB8E-4D61-80B2-C6D88053B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96C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96C"/>
                </a:solidFill>
                <a:latin typeface="Malgun Gothic"/>
                <a:ea typeface="Malgun Gothic"/>
                <a:cs typeface="Malgun Gothic"/>
              </a:rPr>
              <a:t>Monster Delivery Service  ·  2026.10.06  ·  08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d80b7d783e4840"/>
          <a:stretch xmlns:a="http://schemas.openxmlformats.org/drawingml/2006/main"/>
        </p:blipFill>
        <p:spPr>
          <a:xfrm xmlns:a="http://schemas.openxmlformats.org/drawingml/2006/main">
            <a:off x="609600" y="1671638"/>
            <a:ext cx="6858000" cy="3857625"/>
          </a:xfrm>
          <a:prstGeom xmlns:a="http://schemas.openxmlformats.org/drawingml/2006/main" prst="rect">
            <a:avLst/>
          </a:prstGeom>
        </p:spPr>
      </p:pic>
      <p:sp>
        <p:nvSpPr>
          <p:cNvPr id="4" name="text-9vd527-2">
            <a:extLst xmlns:a="http://schemas.openxmlformats.org/drawingml/2006/main">
              <a:ext uri="{FF2B5EF4-FFF2-40B4-BE49-F238E27FC236}">
                <a16:creationId xmlns:a16="http://schemas.microsoft.com/office/drawing/2014/main" id="{EFA78C25-9BD2-4F55-A6E4-058649F6D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581150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6383E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6383E"/>
                </a:solidFill>
                <a:latin typeface="Malgun Gothic"/>
                <a:ea typeface="Malgun Gothic"/>
                <a:cs typeface="Malgun Gothic"/>
              </a:rPr>
              <a:t>화면 중앙 Raycast</a:t>
            </a:r>
          </a:p>
        </p:txBody>
      </p:sp>
      <p:sp>
        <p:nvSpPr>
          <p:cNvPr id="5" name="text-9vd527-3">
            <a:extLst xmlns:a="http://schemas.openxmlformats.org/drawingml/2006/main">
              <a:ext uri="{FF2B5EF4-FFF2-40B4-BE49-F238E27FC236}">
                <a16:creationId xmlns:a16="http://schemas.microsoft.com/office/drawing/2014/main" id="{9B3066F6-62D3-41A5-BE30-2A7201817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009775"/>
            <a:ext cx="371475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6383E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6383E"/>
                </a:solidFill>
                <a:latin typeface="Malgun Gothic"/>
                <a:ea typeface="Malgun Gothic"/>
                <a:cs typeface="Malgun Gothic"/>
              </a:rPr>
              <a:t>첫 번째 고체 표면으로 선택</a:t>
            </a:r>
          </a:p>
          <a:p xmlns:a="http://schemas.openxmlformats.org/drawingml/2006/main">
            <a:pPr>
              <a:defRPr sz="1725" b="0">
                <a:solidFill>
                  <a:srgbClr val="16383E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6383E"/>
                </a:solidFill>
                <a:latin typeface="Malgun Gothic"/>
                <a:ea typeface="Malgun Gothic"/>
                <a:cs typeface="Malgun Gothic"/>
              </a:rPr>
              <a:t>물건 중심까지 거리 대신 표면 거리</a:t>
            </a:r>
          </a:p>
        </p:txBody>
      </p:sp>
      <p:sp>
        <p:nvSpPr>
          <p:cNvPr id="6" name="text-9vd527-4">
            <a:extLst xmlns:a="http://schemas.openxmlformats.org/drawingml/2006/main">
              <a:ext uri="{FF2B5EF4-FFF2-40B4-BE49-F238E27FC236}">
                <a16:creationId xmlns:a16="http://schemas.microsoft.com/office/drawing/2014/main" id="{88B2BDD9-39C1-4125-AAE0-46C60D78A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981325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6383E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6383E"/>
                </a:solidFill>
                <a:latin typeface="Malgun Gothic"/>
                <a:ea typeface="Malgun Gothic"/>
                <a:cs typeface="Malgun Gothic"/>
              </a:rPr>
              <a:t>감지 12m / 상호작용 3m</a:t>
            </a:r>
          </a:p>
        </p:txBody>
      </p:sp>
      <p:sp>
        <p:nvSpPr>
          <p:cNvPr id="7" name="text-9vd527-5">
            <a:extLst xmlns:a="http://schemas.openxmlformats.org/drawingml/2006/main">
              <a:ext uri="{FF2B5EF4-FFF2-40B4-BE49-F238E27FC236}">
                <a16:creationId xmlns:a16="http://schemas.microsoft.com/office/drawing/2014/main" id="{175BB90B-386C-4038-9F7D-759CF21D4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409950"/>
            <a:ext cx="371475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6383E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6383E"/>
                </a:solidFill>
                <a:latin typeface="Malgun Gothic"/>
                <a:ea typeface="Malgun Gothic"/>
                <a:cs typeface="Malgun Gothic"/>
              </a:rPr>
              <a:t>거리 + 시선 + 행동 가능 상태</a:t>
            </a:r>
          </a:p>
          <a:p xmlns:a="http://schemas.openxmlformats.org/drawingml/2006/main">
            <a:pPr>
              <a:defRPr sz="1725" b="0">
                <a:solidFill>
                  <a:srgbClr val="16383E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6383E"/>
                </a:solidFill>
                <a:latin typeface="Malgun Gothic"/>
                <a:ea typeface="Malgun Gothic"/>
                <a:cs typeface="Malgun Gothic"/>
              </a:rPr>
              <a:t>자신의 우체통은 점령 불가</a:t>
            </a:r>
          </a:p>
        </p:txBody>
      </p:sp>
      <p:sp>
        <p:nvSpPr>
          <p:cNvPr id="8" name="text-9vd527-6">
            <a:extLst xmlns:a="http://schemas.openxmlformats.org/drawingml/2006/main">
              <a:ext uri="{FF2B5EF4-FFF2-40B4-BE49-F238E27FC236}">
                <a16:creationId xmlns:a16="http://schemas.microsoft.com/office/drawing/2014/main" id="{19F5C1EB-71CA-41F0-A653-38F043FD8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381500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6383E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6383E"/>
                </a:solidFill>
                <a:latin typeface="Malgun Gothic"/>
                <a:ea typeface="Malgun Gothic"/>
                <a:cs typeface="Malgun Gothic"/>
              </a:rPr>
              <a:t>안내 문구와 흰 테두리</a:t>
            </a:r>
          </a:p>
        </p:txBody>
      </p:sp>
      <p:sp>
        <p:nvSpPr>
          <p:cNvPr id="9" name="text-9vd527-7">
            <a:extLst xmlns:a="http://schemas.openxmlformats.org/drawingml/2006/main">
              <a:ext uri="{FF2B5EF4-FFF2-40B4-BE49-F238E27FC236}">
                <a16:creationId xmlns:a16="http://schemas.microsoft.com/office/drawing/2014/main" id="{6A3219EE-F19D-4D25-8945-B0EEAC49B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810125"/>
            <a:ext cx="371475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6383E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6383E"/>
                </a:solidFill>
                <a:latin typeface="Malgun Gothic"/>
                <a:ea typeface="Malgun Gothic"/>
                <a:cs typeface="Malgun Gothic"/>
              </a:rPr>
              <a:t>가능할 때만 흰 테두리 표시</a:t>
            </a:r>
          </a:p>
          <a:p xmlns:a="http://schemas.openxmlformats.org/drawingml/2006/main">
            <a:pPr>
              <a:defRPr sz="1725" b="0">
                <a:solidFill>
                  <a:srgbClr val="16383E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6383E"/>
                </a:solidFill>
                <a:latin typeface="Malgun Gothic"/>
                <a:ea typeface="Malgun Gothic"/>
                <a:cs typeface="Malgun Gothic"/>
              </a:rPr>
              <a:t>가림·거리 이탈 즉시 해제</a:t>
            </a:r>
          </a:p>
        </p:txBody>
      </p:sp>
      <p:sp>
        <p:nvSpPr>
          <p:cNvPr id="10" name="text-9vd527-8">
            <a:extLst xmlns:a="http://schemas.openxmlformats.org/drawingml/2006/main">
              <a:ext uri="{FF2B5EF4-FFF2-40B4-BE49-F238E27FC236}">
                <a16:creationId xmlns:a16="http://schemas.microsoft.com/office/drawing/2014/main" id="{0110DB8C-7AF0-4BB2-A9C2-DE42725D4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48350"/>
            <a:ext cx="10810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87D8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087D85"/>
                </a:solidFill>
                <a:latin typeface="Malgun Gothic"/>
                <a:ea typeface="Malgun Gothic"/>
                <a:cs typeface="Malgun Gothic"/>
              </a:rPr>
              <a:t>우체통과 이후 택배 픽업은 같은 InteractionTarget 기준을 사용</a:t>
            </a:r>
          </a:p>
        </p:txBody>
      </p:sp>
    </p:spTree>
    <p:extLst>
      <p:ext uri="{BB962C8B-B14F-4D97-AF65-F5344CB8AC3E}">
        <p14:creationId xmlns:p14="http://schemas.microsoft.com/office/powerpoint/2010/main" val="177135117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0mdy1n-0">
            <a:extLst xmlns:a="http://schemas.openxmlformats.org/drawingml/2006/main">
              <a:ext uri="{FF2B5EF4-FFF2-40B4-BE49-F238E27FC236}">
                <a16:creationId xmlns:a16="http://schemas.microsoft.com/office/drawing/2014/main" id="{1D31B14E-A436-4161-A70B-6CA25BF46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34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6383E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6383E"/>
                </a:solidFill>
                <a:latin typeface="Malgun Gothic"/>
                <a:ea typeface="Malgun Gothic"/>
                <a:cs typeface="Malgun Gothic"/>
              </a:rPr>
              <a:t>흰 테두리 셰이더</a:t>
            </a:r>
          </a:p>
        </p:txBody>
      </p:sp>
      <p:sp>
        <p:nvSpPr>
          <p:cNvPr id="2" name="text-0mdy1n-1">
            <a:extLst xmlns:a="http://schemas.openxmlformats.org/drawingml/2006/main">
              <a:ext uri="{FF2B5EF4-FFF2-40B4-BE49-F238E27FC236}">
                <a16:creationId xmlns:a16="http://schemas.microsoft.com/office/drawing/2014/main" id="{09198189-54F4-4EF3-8455-C0A9A5670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96C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96C"/>
                </a:solidFill>
                <a:latin typeface="Malgun Gothic"/>
                <a:ea typeface="Malgun Gothic"/>
                <a:cs typeface="Malgun Gothic"/>
              </a:rPr>
              <a:t>Monster Delivery Service  ·  2026.10.06  ·  09</a:t>
            </a:r>
          </a:p>
        </p:txBody>
      </p:sp>
      <p:sp>
        <p:nvSpPr>
          <p:cNvPr id="3" name="text-0mdy1n-2">
            <a:extLst xmlns:a="http://schemas.openxmlformats.org/drawingml/2006/main">
              <a:ext uri="{FF2B5EF4-FFF2-40B4-BE49-F238E27FC236}">
                <a16:creationId xmlns:a16="http://schemas.microsoft.com/office/drawing/2014/main" id="{B2607257-B420-43E6-B553-3F12B3C53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1038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6383E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6383E"/>
                </a:solidFill>
                <a:latin typeface="Malgun Gothic"/>
                <a:ea typeface="Malgun Gothic"/>
                <a:cs typeface="Malgun Gothic"/>
              </a:rPr>
              <a:t>스텐실로 내부 픽셀 제외</a:t>
            </a:r>
          </a:p>
        </p:txBody>
      </p:sp>
      <p:sp>
        <p:nvSpPr>
          <p:cNvPr id="4" name="text-0mdy1n-3">
            <a:extLst xmlns:a="http://schemas.openxmlformats.org/drawingml/2006/main">
              <a:ext uri="{FF2B5EF4-FFF2-40B4-BE49-F238E27FC236}">
                <a16:creationId xmlns:a16="http://schemas.microsoft.com/office/drawing/2014/main" id="{E6433681-D6A1-4A60-8D4E-B4C421ECB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10382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6383E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6383E"/>
                </a:solidFill>
                <a:latin typeface="Malgun Gothic"/>
                <a:ea typeface="Malgun Gothic"/>
                <a:cs typeface="Malgun Gothic"/>
              </a:rPr>
              <a:t>첫 Pass가 대상 내부를 기록하고 두 번째 Pass는 바깥 테두리만 그린다.</a:t>
            </a:r>
          </a:p>
        </p:txBody>
      </p:sp>
      <p:sp>
        <p:nvSpPr>
          <p:cNvPr id="5" name="text-0mdy1n-4">
            <a:extLst xmlns:a="http://schemas.openxmlformats.org/drawingml/2006/main">
              <a:ext uri="{FF2B5EF4-FFF2-40B4-BE49-F238E27FC236}">
                <a16:creationId xmlns:a16="http://schemas.microsoft.com/office/drawing/2014/main" id="{95944EF8-FBBB-4293-80E6-F0DB665D6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38450"/>
            <a:ext cx="1038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6383E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6383E"/>
                </a:solidFill>
                <a:latin typeface="Malgun Gothic"/>
                <a:ea typeface="Malgun Gothic"/>
                <a:cs typeface="Malgun Gothic"/>
              </a:rPr>
              <a:t>화면 기준 약 4.5px</a:t>
            </a:r>
          </a:p>
        </p:txBody>
      </p:sp>
      <p:sp>
        <p:nvSpPr>
          <p:cNvPr id="6" name="text-0mdy1n-5">
            <a:extLst xmlns:a="http://schemas.openxmlformats.org/drawingml/2006/main">
              <a:ext uri="{FF2B5EF4-FFF2-40B4-BE49-F238E27FC236}">
                <a16:creationId xmlns:a16="http://schemas.microsoft.com/office/drawing/2014/main" id="{C3CDA5E8-3003-4152-AE8E-BE00B10D8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67075"/>
            <a:ext cx="10382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6383E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6383E"/>
                </a:solidFill>
                <a:latin typeface="Malgun Gothic"/>
                <a:ea typeface="Malgun Gothic"/>
                <a:cs typeface="Malgun Gothic"/>
              </a:rPr>
              <a:t>클립 좌표와 화면 크기로 노멀 방향을 확장해 거리 변화에 대응한다.</a:t>
            </a:r>
          </a:p>
        </p:txBody>
      </p:sp>
      <p:sp>
        <p:nvSpPr>
          <p:cNvPr id="7" name="text-0mdy1n-6">
            <a:extLst xmlns:a="http://schemas.openxmlformats.org/drawingml/2006/main">
              <a:ext uri="{FF2B5EF4-FFF2-40B4-BE49-F238E27FC236}">
                <a16:creationId xmlns:a16="http://schemas.microsoft.com/office/drawing/2014/main" id="{3BE5454D-534C-4B18-BFAB-580159AB6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05275"/>
            <a:ext cx="1038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6383E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6383E"/>
                </a:solidFill>
                <a:latin typeface="Malgun Gothic"/>
                <a:ea typeface="Malgun Gothic"/>
                <a:cs typeface="Malgun Gothic"/>
              </a:rPr>
              <a:t>깊이 검사와 부드러운 노멀</a:t>
            </a:r>
          </a:p>
        </p:txBody>
      </p:sp>
      <p:sp>
        <p:nvSpPr>
          <p:cNvPr id="8" name="text-0mdy1n-7">
            <a:extLst xmlns:a="http://schemas.openxmlformats.org/drawingml/2006/main">
              <a:ext uri="{FF2B5EF4-FFF2-40B4-BE49-F238E27FC236}">
                <a16:creationId xmlns:a16="http://schemas.microsoft.com/office/drawing/2014/main" id="{883813EB-C4E4-41C6-8EA8-2BC4A1D47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382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6383E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6383E"/>
                </a:solidFill>
                <a:latin typeface="Malgun Gothic"/>
                <a:ea typeface="Malgun Gothic"/>
                <a:cs typeface="Malgun Gothic"/>
              </a:rPr>
              <a:t>ZTest LEqual로 벽 뒤 테두리를 막고 공유 정점 노멀로 틈을 줄인다.</a:t>
            </a:r>
          </a:p>
        </p:txBody>
      </p:sp>
      <p:sp>
        <p:nvSpPr>
          <p:cNvPr id="9" name="text-0mdy1n-8">
            <a:extLst xmlns:a="http://schemas.openxmlformats.org/drawingml/2006/main">
              <a:ext uri="{FF2B5EF4-FFF2-40B4-BE49-F238E27FC236}">
                <a16:creationId xmlns:a16="http://schemas.microsoft.com/office/drawing/2014/main" id="{FD7D7396-3217-4ACD-8E02-E0DE142A5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86425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87D85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087D85"/>
                </a:solidFill>
                <a:latin typeface="Malgun Gothic"/>
                <a:ea typeface="Malgun Gothic"/>
                <a:cs typeface="Malgun Gothic"/>
              </a:rPr>
              <a:t>표시 조건  =  focused &amp;&amp; ready</a:t>
            </a:r>
          </a:p>
        </p:txBody>
      </p:sp>
    </p:spTree>
    <p:extLst>
      <p:ext uri="{BB962C8B-B14F-4D97-AF65-F5344CB8AC3E}">
        <p14:creationId xmlns:p14="http://schemas.microsoft.com/office/powerpoint/2010/main" val="79737887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7v8u8q-0">
            <a:extLst xmlns:a="http://schemas.openxmlformats.org/drawingml/2006/main">
              <a:ext uri="{FF2B5EF4-FFF2-40B4-BE49-F238E27FC236}">
                <a16:creationId xmlns:a16="http://schemas.microsoft.com/office/drawing/2014/main" id="{5E7C689E-C9AD-46E0-A6E6-1F2DA7C99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34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6383E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6383E"/>
                </a:solidFill>
                <a:latin typeface="Malgun Gothic"/>
                <a:ea typeface="Malgun Gothic"/>
                <a:cs typeface="Malgun Gothic"/>
              </a:rPr>
              <a:t>점령과 소유자 색상 이펙트</a:t>
            </a:r>
          </a:p>
        </p:txBody>
      </p:sp>
      <p:sp>
        <p:nvSpPr>
          <p:cNvPr id="2" name="text-7v8u8q-1">
            <a:extLst xmlns:a="http://schemas.openxmlformats.org/drawingml/2006/main">
              <a:ext uri="{FF2B5EF4-FFF2-40B4-BE49-F238E27FC236}">
                <a16:creationId xmlns:a16="http://schemas.microsoft.com/office/drawing/2014/main" id="{23932784-FFF8-44E9-8671-48C209F39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96C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96C"/>
                </a:solidFill>
                <a:latin typeface="Malgun Gothic"/>
                <a:ea typeface="Malgun Gothic"/>
                <a:cs typeface="Malgun Gothic"/>
              </a:rPr>
              <a:t>Monster Delivery Service  ·  2026.10.06  ·  10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3b6d1344894e32"/>
          <a:stretch xmlns:a="http://schemas.openxmlformats.org/drawingml/2006/main"/>
        </p:blipFill>
        <p:spPr>
          <a:xfrm xmlns:a="http://schemas.openxmlformats.org/drawingml/2006/main">
            <a:off x="609600" y="1662113"/>
            <a:ext cx="6858000" cy="3857625"/>
          </a:xfrm>
          <a:prstGeom xmlns:a="http://schemas.openxmlformats.org/drawingml/2006/main" prst="rect">
            <a:avLst/>
          </a:prstGeom>
        </p:spPr>
      </p:pic>
      <p:sp>
        <p:nvSpPr>
          <p:cNvPr id="4" name="text-7v8u8q-2">
            <a:extLst xmlns:a="http://schemas.openxmlformats.org/drawingml/2006/main">
              <a:ext uri="{FF2B5EF4-FFF2-40B4-BE49-F238E27FC236}">
                <a16:creationId xmlns:a16="http://schemas.microsoft.com/office/drawing/2014/main" id="{F8B631A8-6A44-47F1-9558-1BA99289E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552575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6383E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6383E"/>
                </a:solidFill>
                <a:latin typeface="Malgun Gothic"/>
                <a:ea typeface="Malgun Gothic"/>
                <a:cs typeface="Malgun Gothic"/>
              </a:rPr>
              <a:t>E 3초 유지</a:t>
            </a:r>
          </a:p>
        </p:txBody>
      </p:sp>
      <p:sp>
        <p:nvSpPr>
          <p:cNvPr id="5" name="text-7v8u8q-3">
            <a:extLst xmlns:a="http://schemas.openxmlformats.org/drawingml/2006/main">
              <a:ext uri="{FF2B5EF4-FFF2-40B4-BE49-F238E27FC236}">
                <a16:creationId xmlns:a16="http://schemas.microsoft.com/office/drawing/2014/main" id="{0E7D80BE-EE96-43A4-872D-2F63771DE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981200"/>
            <a:ext cx="371475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6383E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6383E"/>
                </a:solidFill>
                <a:latin typeface="Malgun Gothic"/>
                <a:ea typeface="Malgun Gothic"/>
                <a:cs typeface="Malgun Gothic"/>
              </a:rPr>
              <a:t>E 해제·조준 이탈·거리 이탈</a:t>
            </a:r>
          </a:p>
          <a:p xmlns:a="http://schemas.openxmlformats.org/drawingml/2006/main">
            <a:pPr>
              <a:defRPr sz="1725" b="0">
                <a:solidFill>
                  <a:srgbClr val="16383E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6383E"/>
                </a:solidFill>
                <a:latin typeface="Malgun Gothic"/>
                <a:ea typeface="Malgun Gothic"/>
                <a:cs typeface="Malgun Gothic"/>
              </a:rPr>
              <a:t>기절·강제 이동 시 진행 취소</a:t>
            </a:r>
          </a:p>
        </p:txBody>
      </p:sp>
      <p:sp>
        <p:nvSpPr>
          <p:cNvPr id="6" name="text-7v8u8q-4">
            <a:extLst xmlns:a="http://schemas.openxmlformats.org/drawingml/2006/main">
              <a:ext uri="{FF2B5EF4-FFF2-40B4-BE49-F238E27FC236}">
                <a16:creationId xmlns:a16="http://schemas.microsoft.com/office/drawing/2014/main" id="{6D9C58D3-DBCC-4307-93F5-888D75A86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952750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6383E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6383E"/>
                </a:solidFill>
                <a:latin typeface="Malgun Gothic"/>
                <a:ea typeface="Malgun Gothic"/>
                <a:cs typeface="Malgun Gothic"/>
              </a:rPr>
              <a:t>기본 흰색 → 소유자 색</a:t>
            </a:r>
          </a:p>
        </p:txBody>
      </p:sp>
      <p:sp>
        <p:nvSpPr>
          <p:cNvPr id="7" name="text-7v8u8q-5">
            <a:extLst xmlns:a="http://schemas.openxmlformats.org/drawingml/2006/main">
              <a:ext uri="{FF2B5EF4-FFF2-40B4-BE49-F238E27FC236}">
                <a16:creationId xmlns:a16="http://schemas.microsoft.com/office/drawing/2014/main" id="{8676AE92-7F95-4460-B339-236170994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381375"/>
            <a:ext cx="371475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6383E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6383E"/>
                </a:solidFill>
                <a:latin typeface="Malgun Gothic"/>
                <a:ea typeface="Malgun Gothic"/>
                <a:cs typeface="Malgun Gothic"/>
              </a:rPr>
              <a:t>현재 테스트 플레이어는 노란색</a:t>
            </a:r>
          </a:p>
          <a:p xmlns:a="http://schemas.openxmlformats.org/drawingml/2006/main">
            <a:pPr>
              <a:defRPr sz="1725" b="0">
                <a:solidFill>
                  <a:srgbClr val="16383E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6383E"/>
                </a:solidFill>
                <a:latin typeface="Malgun Gothic"/>
                <a:ea typeface="Malgun Gothic"/>
                <a:cs typeface="Malgun Gothic"/>
              </a:rPr>
              <a:t>우체통 본체의 재질 색은 유지</a:t>
            </a:r>
          </a:p>
        </p:txBody>
      </p:sp>
      <p:sp>
        <p:nvSpPr>
          <p:cNvPr id="8" name="text-7v8u8q-6">
            <a:extLst xmlns:a="http://schemas.openxmlformats.org/drawingml/2006/main">
              <a:ext uri="{FF2B5EF4-FFF2-40B4-BE49-F238E27FC236}">
                <a16:creationId xmlns:a16="http://schemas.microsoft.com/office/drawing/2014/main" id="{4CDB128F-642C-4FD8-98CC-32943DE99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352925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6383E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6383E"/>
                </a:solidFill>
                <a:latin typeface="Malgun Gothic"/>
                <a:ea typeface="Malgun Gothic"/>
                <a:cs typeface="Malgun Gothic"/>
              </a:rPr>
              <a:t>MaterialPropertyBlock</a:t>
            </a:r>
          </a:p>
        </p:txBody>
      </p:sp>
      <p:sp>
        <p:nvSpPr>
          <p:cNvPr id="9" name="text-7v8u8q-7">
            <a:extLst xmlns:a="http://schemas.openxmlformats.org/drawingml/2006/main">
              <a:ext uri="{FF2B5EF4-FFF2-40B4-BE49-F238E27FC236}">
                <a16:creationId xmlns:a16="http://schemas.microsoft.com/office/drawing/2014/main" id="{2898FA9A-3B91-48D0-8C6B-21E735919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781550"/>
            <a:ext cx="371475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6383E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6383E"/>
                </a:solidFill>
                <a:latin typeface="Malgun Gothic"/>
                <a:ea typeface="Malgun Gothic"/>
                <a:cs typeface="Malgun Gothic"/>
              </a:rPr>
              <a:t>공유 머티리얼을 복제하지 않고</a:t>
            </a:r>
          </a:p>
          <a:p xmlns:a="http://schemas.openxmlformats.org/drawingml/2006/main">
            <a:pPr>
              <a:defRPr sz="1725" b="0">
                <a:solidFill>
                  <a:srgbClr val="16383E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6383E"/>
                </a:solidFill>
                <a:latin typeface="Malgun Gothic"/>
                <a:ea typeface="Malgun Gothic"/>
                <a:cs typeface="Malgun Gothic"/>
              </a:rPr>
              <a:t>고리와 입자의 _Color만 갱신</a:t>
            </a:r>
          </a:p>
        </p:txBody>
      </p:sp>
      <p:sp>
        <p:nvSpPr>
          <p:cNvPr id="10" name="text-7v8u8q-8">
            <a:extLst xmlns:a="http://schemas.openxmlformats.org/drawingml/2006/main">
              <a:ext uri="{FF2B5EF4-FFF2-40B4-BE49-F238E27FC236}">
                <a16:creationId xmlns:a16="http://schemas.microsoft.com/office/drawing/2014/main" id="{A123E12D-DD07-4B4B-B0E1-1F0DF41E0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48350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87D8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087D85"/>
                </a:solidFill>
                <a:latin typeface="Malgun Gothic"/>
                <a:ea typeface="Malgun Gothic"/>
                <a:cs typeface="Malgun Gothic"/>
              </a:rPr>
              <a:t>SetPlayerColor(playerId, color)  ·  이후 입장 전 색 선택 UI 연결 지점</a:t>
            </a:r>
          </a:p>
        </p:txBody>
      </p:sp>
    </p:spTree>
    <p:extLst>
      <p:ext uri="{BB962C8B-B14F-4D97-AF65-F5344CB8AC3E}">
        <p14:creationId xmlns:p14="http://schemas.microsoft.com/office/powerpoint/2010/main" val="41567250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2arw9b-0">
            <a:extLst xmlns:a="http://schemas.openxmlformats.org/drawingml/2006/main">
              <a:ext uri="{FF2B5EF4-FFF2-40B4-BE49-F238E27FC236}">
                <a16:creationId xmlns:a16="http://schemas.microsoft.com/office/drawing/2014/main" id="{CFED0CF0-D390-4086-8AB2-191329715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34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6383E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6383E"/>
                </a:solidFill>
                <a:latin typeface="Malgun Gothic"/>
                <a:ea typeface="Malgun Gothic"/>
                <a:cs typeface="Malgun Gothic"/>
              </a:rPr>
              <a:t>Blender 모델과 Unity 에셋</a:t>
            </a:r>
          </a:p>
        </p:txBody>
      </p:sp>
      <p:sp>
        <p:nvSpPr>
          <p:cNvPr id="2" name="text-2arw9b-1">
            <a:extLst xmlns:a="http://schemas.openxmlformats.org/drawingml/2006/main">
              <a:ext uri="{FF2B5EF4-FFF2-40B4-BE49-F238E27FC236}">
                <a16:creationId xmlns:a16="http://schemas.microsoft.com/office/drawing/2014/main" id="{E091D80C-90E7-4FE2-A1EA-A7ED54773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96C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96C"/>
                </a:solidFill>
                <a:latin typeface="Malgun Gothic"/>
                <a:ea typeface="Malgun Gothic"/>
                <a:cs typeface="Malgun Gothic"/>
              </a:rPr>
              <a:t>Monster Delivery Service  ·  2026.10.06  ·  11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f17dc4da0d40cc"/>
          <a:stretch xmlns:a="http://schemas.openxmlformats.org/drawingml/2006/main"/>
        </p:blipFill>
        <p:spPr>
          <a:xfrm xmlns:a="http://schemas.openxmlformats.org/drawingml/2006/main">
            <a:off x="1395413" y="1438275"/>
            <a:ext cx="2809875" cy="2809875"/>
          </a:xfrm>
          <a:prstGeom xmlns:a="http://schemas.openxmlformats.org/drawingml/2006/main" prst="rect">
            <a:avLst/>
          </a:prstGeom>
        </p:spPr>
      </p:pic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58f55abfa8409f"/>
          <a:stretch xmlns:a="http://schemas.openxmlformats.org/drawingml/2006/main"/>
        </p:blipFill>
        <p:spPr>
          <a:xfrm xmlns:a="http://schemas.openxmlformats.org/drawingml/2006/main">
            <a:off x="5334000" y="1881188"/>
            <a:ext cx="3143250" cy="3143250"/>
          </a:xfrm>
          <a:prstGeom xmlns:a="http://schemas.openxmlformats.org/drawingml/2006/main" prst="rect">
            <a:avLst/>
          </a:prstGeom>
        </p:spPr>
      </p:pic>
      <p:sp>
        <p:nvSpPr>
          <p:cNvPr id="5" name="text-2arw9b-2">
            <a:extLst xmlns:a="http://schemas.openxmlformats.org/drawingml/2006/main">
              <a:ext uri="{FF2B5EF4-FFF2-40B4-BE49-F238E27FC236}">
                <a16:creationId xmlns:a16="http://schemas.microsoft.com/office/drawing/2014/main" id="{77A3F8B4-092A-4BDA-891A-4B63B30AE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14850"/>
            <a:ext cx="4095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6383E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16383E"/>
                </a:solidFill>
                <a:latin typeface="Malgun Gothic"/>
                <a:ea typeface="Malgun Gothic"/>
                <a:cs typeface="Malgun Gothic"/>
              </a:rPr>
              <a:t>택배 상자</a:t>
            </a:r>
          </a:p>
        </p:txBody>
      </p:sp>
      <p:sp>
        <p:nvSpPr>
          <p:cNvPr id="6" name="text-2arw9b-3">
            <a:extLst xmlns:a="http://schemas.openxmlformats.org/drawingml/2006/main">
              <a:ext uri="{FF2B5EF4-FFF2-40B4-BE49-F238E27FC236}">
                <a16:creationId xmlns:a16="http://schemas.microsoft.com/office/drawing/2014/main" id="{397FBF3E-B2F8-4874-B58B-E89B73D66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76825"/>
            <a:ext cx="44481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96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96C"/>
                </a:solidFill>
                <a:latin typeface="Malgun Gothic"/>
                <a:ea typeface="Malgun Gothic"/>
                <a:cs typeface="Malgun Gothic"/>
              </a:rPr>
              <a:t>1,816 삼각형 · 높이 0.384m</a:t>
            </a:r>
          </a:p>
          <a:p xmlns:a="http://schemas.openxmlformats.org/drawingml/2006/main">
            <a:pPr>
              <a:defRPr sz="1875" b="0">
                <a:solidFill>
                  <a:srgbClr val="52696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96C"/>
                </a:solidFill>
                <a:latin typeface="Malgun Gothic"/>
                <a:ea typeface="Malgun Gothic"/>
                <a:cs typeface="Malgun Gothic"/>
              </a:rPr>
              <a:t>FBX + 2K 텍스처 + Prefab</a:t>
            </a:r>
          </a:p>
        </p:txBody>
      </p:sp>
      <p:sp>
        <p:nvSpPr>
          <p:cNvPr id="7" name="text-2arw9b-4">
            <a:extLst xmlns:a="http://schemas.openxmlformats.org/drawingml/2006/main">
              <a:ext uri="{FF2B5EF4-FFF2-40B4-BE49-F238E27FC236}">
                <a16:creationId xmlns:a16="http://schemas.microsoft.com/office/drawing/2014/main" id="{73B3CDBD-C0F7-456A-A7A8-840E5A42F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847850"/>
            <a:ext cx="2619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6383E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16383E"/>
                </a:solidFill>
                <a:latin typeface="Malgun Gothic"/>
                <a:ea typeface="Malgun Gothic"/>
                <a:cs typeface="Malgun Gothic"/>
              </a:rPr>
              <a:t>우체통</a:t>
            </a:r>
          </a:p>
        </p:txBody>
      </p:sp>
      <p:sp>
        <p:nvSpPr>
          <p:cNvPr id="8" name="text-2arw9b-5">
            <a:extLst xmlns:a="http://schemas.openxmlformats.org/drawingml/2006/main">
              <a:ext uri="{FF2B5EF4-FFF2-40B4-BE49-F238E27FC236}">
                <a16:creationId xmlns:a16="http://schemas.microsoft.com/office/drawing/2014/main" id="{B4CD7650-E6B0-43E1-8F3B-CBCC62CB3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409825"/>
            <a:ext cx="2619375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96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96C"/>
                </a:solidFill>
                <a:latin typeface="Malgun Gothic"/>
                <a:ea typeface="Malgun Gothic"/>
                <a:cs typeface="Malgun Gothic"/>
              </a:rPr>
              <a:t>원본 1,613 삼각형</a:t>
            </a:r>
          </a:p>
          <a:p xmlns:a="http://schemas.openxmlformats.org/drawingml/2006/main">
            <a:pPr>
              <a:defRPr sz="1875" b="0">
                <a:solidFill>
                  <a:srgbClr val="52696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96C"/>
                </a:solidFill>
                <a:latin typeface="Malgun Gothic"/>
                <a:ea typeface="Malgun Gothic"/>
                <a:cs typeface="Malgun Gothic"/>
              </a:rPr>
              <a:t>FBX 높이 1.732m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52696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96C"/>
                </a:solidFill>
                <a:latin typeface="Malgun Gothic"/>
                <a:ea typeface="Malgun Gothic"/>
                <a:cs typeface="Malgun Gothic"/>
              </a:rPr>
              <a:t>Unity 파생 메시로</a:t>
            </a:r>
          </a:p>
          <a:p xmlns:a="http://schemas.openxmlformats.org/drawingml/2006/main">
            <a:pPr>
              <a:defRPr sz="1875" b="0">
                <a:solidFill>
                  <a:srgbClr val="52696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96C"/>
                </a:solidFill>
                <a:latin typeface="Malgun Gothic"/>
                <a:ea typeface="Malgun Gothic"/>
                <a:cs typeface="Malgun Gothic"/>
              </a:rPr>
              <a:t>아래 기둥만 연장</a:t>
            </a:r>
          </a:p>
          <a:p xmlns:a="http://schemas.openxmlformats.org/drawingml/2006/main">
            <a:pPr>
              <a:defRPr sz="1875" b="0">
                <a:solidFill>
                  <a:srgbClr val="52696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96C"/>
                </a:solidFill>
                <a:latin typeface="Malgun Gothic"/>
                <a:ea typeface="Malgun Gothic"/>
                <a:cs typeface="Malgun Gothic"/>
              </a:rPr>
              <a:t>최종 높이 2.832m</a:t>
            </a:r>
          </a:p>
        </p:txBody>
      </p:sp>
    </p:spTree>
    <p:extLst>
      <p:ext uri="{BB962C8B-B14F-4D97-AF65-F5344CB8AC3E}">
        <p14:creationId xmlns:p14="http://schemas.microsoft.com/office/powerpoint/2010/main" val="195656615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8441if-0">
            <a:extLst xmlns:a="http://schemas.openxmlformats.org/drawingml/2006/main">
              <a:ext uri="{FF2B5EF4-FFF2-40B4-BE49-F238E27FC236}">
                <a16:creationId xmlns:a16="http://schemas.microsoft.com/office/drawing/2014/main" id="{FBE55D29-0942-494F-B059-31615CF83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34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6383E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6383E"/>
                </a:solidFill>
                <a:latin typeface="Malgun Gothic"/>
                <a:ea typeface="Malgun Gothic"/>
                <a:cs typeface="Malgun Gothic"/>
              </a:rPr>
              <a:t>텍스처 채널과 임포트 설정</a:t>
            </a:r>
          </a:p>
        </p:txBody>
      </p:sp>
      <p:sp>
        <p:nvSpPr>
          <p:cNvPr id="2" name="text-8441if-1">
            <a:extLst xmlns:a="http://schemas.openxmlformats.org/drawingml/2006/main">
              <a:ext uri="{FF2B5EF4-FFF2-40B4-BE49-F238E27FC236}">
                <a16:creationId xmlns:a16="http://schemas.microsoft.com/office/drawing/2014/main" id="{605B4766-7B83-49C2-999C-FC484BDB6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96C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96C"/>
                </a:solidFill>
                <a:latin typeface="Malgun Gothic"/>
                <a:ea typeface="Malgun Gothic"/>
                <a:cs typeface="Malgun Gothic"/>
              </a:rPr>
              <a:t>Monster Delivery Service  ·  2026.10.06  ·  12</a:t>
            </a:r>
          </a:p>
        </p:txBody>
      </p:sp>
      <p:sp>
        <p:nvSpPr>
          <p:cNvPr id="3" name="text-8441if-2">
            <a:extLst xmlns:a="http://schemas.openxmlformats.org/drawingml/2006/main">
              <a:ext uri="{FF2B5EF4-FFF2-40B4-BE49-F238E27FC236}">
                <a16:creationId xmlns:a16="http://schemas.microsoft.com/office/drawing/2014/main" id="{2DC8AD4A-83F9-4944-BB3D-2DB59880A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5286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6383E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16383E"/>
                </a:solidFill>
                <a:latin typeface="Malgun Gothic"/>
                <a:ea typeface="Malgun Gothic"/>
                <a:cs typeface="Malgun Gothic"/>
              </a:rPr>
              <a:t>Blender ORM</a:t>
            </a:r>
          </a:p>
        </p:txBody>
      </p:sp>
      <p:sp>
        <p:nvSpPr>
          <p:cNvPr id="4" name="text-8441if-3">
            <a:extLst xmlns:a="http://schemas.openxmlformats.org/drawingml/2006/main">
              <a:ext uri="{FF2B5EF4-FFF2-40B4-BE49-F238E27FC236}">
                <a16:creationId xmlns:a16="http://schemas.microsoft.com/office/drawing/2014/main" id="{018A9CC4-05CB-41FA-9602-79F4E8741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28875"/>
            <a:ext cx="51435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52696C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0">
                <a:solidFill>
                  <a:srgbClr val="52696C"/>
                </a:solidFill>
                <a:latin typeface="Malgun Gothic"/>
                <a:ea typeface="Malgun Gothic"/>
                <a:cs typeface="Malgun Gothic"/>
              </a:rPr>
              <a:t>R = Ambient Occlusion</a:t>
            </a:r>
          </a:p>
          <a:p xmlns:a="http://schemas.openxmlformats.org/drawingml/2006/main">
            <a:pPr>
              <a:defRPr sz="2325" b="0">
                <a:solidFill>
                  <a:srgbClr val="52696C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0">
                <a:solidFill>
                  <a:srgbClr val="52696C"/>
                </a:solidFill>
                <a:latin typeface="Malgun Gothic"/>
                <a:ea typeface="Malgun Gothic"/>
                <a:cs typeface="Malgun Gothic"/>
              </a:rPr>
              <a:t>G = Roughness</a:t>
            </a:r>
          </a:p>
          <a:p xmlns:a="http://schemas.openxmlformats.org/drawingml/2006/main">
            <a:pPr>
              <a:defRPr sz="2325" b="0">
                <a:solidFill>
                  <a:srgbClr val="52696C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0">
                <a:solidFill>
                  <a:srgbClr val="52696C"/>
                </a:solidFill>
                <a:latin typeface="Malgun Gothic"/>
                <a:ea typeface="Malgun Gothic"/>
                <a:cs typeface="Malgun Gothic"/>
              </a:rPr>
              <a:t>B = Metallic</a:t>
            </a:r>
          </a:p>
        </p:txBody>
      </p:sp>
      <p:sp>
        <p:nvSpPr>
          <p:cNvPr id="5" name="text-8441if-4">
            <a:extLst xmlns:a="http://schemas.openxmlformats.org/drawingml/2006/main">
              <a:ext uri="{FF2B5EF4-FFF2-40B4-BE49-F238E27FC236}">
                <a16:creationId xmlns:a16="http://schemas.microsoft.com/office/drawing/2014/main" id="{E4DC5683-1E2E-4716-82AC-C7CA16B33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657350"/>
            <a:ext cx="504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6383E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16383E"/>
                </a:solidFill>
                <a:latin typeface="Malgun Gothic"/>
                <a:ea typeface="Malgun Gothic"/>
                <a:cs typeface="Malgun Gothic"/>
              </a:rPr>
              <a:t>Unity Standard</a:t>
            </a:r>
          </a:p>
        </p:txBody>
      </p:sp>
      <p:sp>
        <p:nvSpPr>
          <p:cNvPr id="6" name="text-8441if-5">
            <a:extLst xmlns:a="http://schemas.openxmlformats.org/drawingml/2006/main">
              <a:ext uri="{FF2B5EF4-FFF2-40B4-BE49-F238E27FC236}">
                <a16:creationId xmlns:a16="http://schemas.microsoft.com/office/drawing/2014/main" id="{4ECDA22B-3999-4031-BBC8-2D8D7BCB1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428875"/>
            <a:ext cx="504825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52696C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52696C"/>
                </a:solidFill>
                <a:latin typeface="Malgun Gothic"/>
                <a:ea typeface="Malgun Gothic"/>
                <a:cs typeface="Malgun Gothic"/>
              </a:rPr>
              <a:t>MetallicSmoothness.R = ORM.B</a:t>
            </a:r>
          </a:p>
          <a:p xmlns:a="http://schemas.openxmlformats.org/drawingml/2006/main">
            <a:pPr>
              <a:defRPr sz="2100" b="0">
                <a:solidFill>
                  <a:srgbClr val="52696C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52696C"/>
                </a:solidFill>
                <a:latin typeface="Malgun Gothic"/>
                <a:ea typeface="Malgun Gothic"/>
                <a:cs typeface="Malgun Gothic"/>
              </a:rPr>
              <a:t>MetallicSmoothness.A = 1 − ORM.G</a:t>
            </a:r>
          </a:p>
          <a:p xmlns:a="http://schemas.openxmlformats.org/drawingml/2006/main">
            <a:pPr>
              <a:defRPr sz="2100" b="0">
                <a:solidFill>
                  <a:srgbClr val="52696C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52696C"/>
                </a:solidFill>
                <a:latin typeface="Malgun Gothic"/>
                <a:ea typeface="Malgun Gothic"/>
                <a:cs typeface="Malgun Gothic"/>
              </a:rPr>
              <a:t>AO 데이터는 원본 ORM에 보존</a:t>
            </a:r>
          </a:p>
        </p:txBody>
      </p:sp>
      <p:sp>
        <p:nvSpPr>
          <p:cNvPr id="7" name="text-8441if-6">
            <a:extLst xmlns:a="http://schemas.openxmlformats.org/drawingml/2006/main">
              <a:ext uri="{FF2B5EF4-FFF2-40B4-BE49-F238E27FC236}">
                <a16:creationId xmlns:a16="http://schemas.microsoft.com/office/drawing/2014/main" id="{2AB9A77C-0254-44DF-8045-E246D3615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05375"/>
            <a:ext cx="10810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87D85"/>
                </a:solidFill>
                <a:latin typeface="Malgun Gothic"/>
                <a:ea typeface="Malgun Gothic"/>
                <a:cs typeface="Malgun Gothic"/>
              </a:defRPr>
            </a:pPr>
            <a:r>
              <a:rPr sz="2475" b="1">
                <a:solidFill>
                  <a:srgbClr val="087D85"/>
                </a:solidFill>
                <a:latin typeface="Malgun Gothic"/>
                <a:ea typeface="Malgun Gothic"/>
                <a:cs typeface="Malgun Gothic"/>
              </a:rPr>
              <a:t>컬러는 sRGB  ·  물성 데이터는 Linear</a:t>
            </a:r>
          </a:p>
        </p:txBody>
      </p:sp>
      <p:sp>
        <p:nvSpPr>
          <p:cNvPr id="8" name="text-8441if-7">
            <a:extLst xmlns:a="http://schemas.openxmlformats.org/drawingml/2006/main">
              <a:ext uri="{FF2B5EF4-FFF2-40B4-BE49-F238E27FC236}">
                <a16:creationId xmlns:a16="http://schemas.microsoft.com/office/drawing/2014/main" id="{9D5AF450-AC53-42E6-B5FB-27A274330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57850"/>
            <a:ext cx="108108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6383E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6383E"/>
                </a:solidFill>
                <a:latin typeface="Malgun Gothic"/>
                <a:ea typeface="Malgun Gothic"/>
                <a:cs typeface="Malgun Gothic"/>
              </a:rPr>
              <a:t>원본 FBX 축을 보정해 가져오고, 실제 크기·텍스처·정적 MeshCollider를 검증</a:t>
            </a:r>
          </a:p>
        </p:txBody>
      </p:sp>
    </p:spTree>
    <p:extLst>
      <p:ext uri="{BB962C8B-B14F-4D97-AF65-F5344CB8AC3E}">
        <p14:creationId xmlns:p14="http://schemas.microsoft.com/office/powerpoint/2010/main" val="37236402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6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97q0y5-0">
            <a:extLst xmlns:a="http://schemas.openxmlformats.org/drawingml/2006/main">
              <a:ext uri="{FF2B5EF4-FFF2-40B4-BE49-F238E27FC236}">
                <a16:creationId xmlns:a16="http://schemas.microsoft.com/office/drawing/2014/main" id="{3B1B0BF0-0711-4004-9D38-522882764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34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6383E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6383E"/>
                </a:solidFill>
                <a:latin typeface="Malgun Gothic"/>
                <a:ea typeface="Malgun Gothic"/>
                <a:cs typeface="Malgun Gothic"/>
              </a:rPr>
              <a:t>집 앞 우체통 자동 배치</a:t>
            </a:r>
          </a:p>
        </p:txBody>
      </p:sp>
      <p:sp>
        <p:nvSpPr>
          <p:cNvPr id="2" name="text-97q0y5-1">
            <a:extLst xmlns:a="http://schemas.openxmlformats.org/drawingml/2006/main">
              <a:ext uri="{FF2B5EF4-FFF2-40B4-BE49-F238E27FC236}">
                <a16:creationId xmlns:a16="http://schemas.microsoft.com/office/drawing/2014/main" id="{941EC3E1-CDBE-45F8-AD2B-49B0A3496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96C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96C"/>
                </a:solidFill>
                <a:latin typeface="Malgun Gothic"/>
                <a:ea typeface="Malgun Gothic"/>
                <a:cs typeface="Malgun Gothic"/>
              </a:rPr>
              <a:t>Monster Delivery Service  ·  2026.10.06  ·  13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62a4c1cfba4bcd"/>
          <a:stretch xmlns:a="http://schemas.openxmlformats.org/drawingml/2006/main"/>
        </p:blipFill>
        <p:spPr>
          <a:xfrm xmlns:a="http://schemas.openxmlformats.org/drawingml/2006/main">
            <a:off x="5810250" y="1515836"/>
            <a:ext cx="5810250" cy="4150179"/>
          </a:xfrm>
          <a:prstGeom xmlns:a="http://schemas.openxmlformats.org/drawingml/2006/main" prst="rect">
            <a:avLst/>
          </a:prstGeom>
        </p:spPr>
      </p:pic>
      <p:sp>
        <p:nvSpPr>
          <p:cNvPr id="4" name="text-97q0y5-2">
            <a:extLst xmlns:a="http://schemas.openxmlformats.org/drawingml/2006/main">
              <a:ext uri="{FF2B5EF4-FFF2-40B4-BE49-F238E27FC236}">
                <a16:creationId xmlns:a16="http://schemas.microsoft.com/office/drawing/2014/main" id="{29CA393E-61C6-418E-8C03-8DA562B10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52575"/>
            <a:ext cx="4743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6383E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6383E"/>
                </a:solidFill>
                <a:latin typeface="Malgun Gothic"/>
                <a:ea typeface="Malgun Gothic"/>
                <a:cs typeface="Malgun Gothic"/>
              </a:rPr>
              <a:t>Prefab 10개를 재현 가능하게</a:t>
            </a:r>
          </a:p>
        </p:txBody>
      </p:sp>
      <p:sp>
        <p:nvSpPr>
          <p:cNvPr id="5" name="text-97q0y5-3">
            <a:extLst xmlns:a="http://schemas.openxmlformats.org/drawingml/2006/main">
              <a:ext uri="{FF2B5EF4-FFF2-40B4-BE49-F238E27FC236}">
                <a16:creationId xmlns:a16="http://schemas.microsoft.com/office/drawing/2014/main" id="{5DD6F114-4373-4DC0-A56F-98F8C96C9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47434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6383E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6383E"/>
                </a:solidFill>
                <a:latin typeface="Malgun Gothic"/>
                <a:ea typeface="Malgun Gothic"/>
                <a:cs typeface="Malgun Gothic"/>
              </a:rPr>
              <a:t>기존 배치를 갱신하는 Editor 메뉴</a:t>
            </a:r>
          </a:p>
          <a:p xmlns:a="http://schemas.openxmlformats.org/drawingml/2006/main">
            <a:pPr>
              <a:defRPr sz="1800" b="0">
                <a:solidFill>
                  <a:srgbClr val="16383E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6383E"/>
                </a:solidFill>
                <a:latin typeface="Malgun Gothic"/>
                <a:ea typeface="Malgun Gothic"/>
                <a:cs typeface="Malgun Gothic"/>
              </a:rPr>
              <a:t>중복 생성 없이 같은 구조 유지</a:t>
            </a:r>
          </a:p>
        </p:txBody>
      </p:sp>
      <p:sp>
        <p:nvSpPr>
          <p:cNvPr id="6" name="text-97q0y5-4">
            <a:extLst xmlns:a="http://schemas.openxmlformats.org/drawingml/2006/main">
              <a:ext uri="{FF2B5EF4-FFF2-40B4-BE49-F238E27FC236}">
                <a16:creationId xmlns:a16="http://schemas.microsoft.com/office/drawing/2014/main" id="{AEED68E6-9712-4618-94A9-391CE29F2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24175"/>
            <a:ext cx="4743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6383E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6383E"/>
                </a:solidFill>
                <a:latin typeface="Malgun Gothic"/>
                <a:ea typeface="Malgun Gothic"/>
                <a:cs typeface="Malgun Gothic"/>
              </a:rPr>
              <a:t>Raycast + OverlapBox</a:t>
            </a:r>
          </a:p>
        </p:txBody>
      </p:sp>
      <p:sp>
        <p:nvSpPr>
          <p:cNvPr id="7" name="text-97q0y5-5">
            <a:extLst xmlns:a="http://schemas.openxmlformats.org/drawingml/2006/main">
              <a:ext uri="{FF2B5EF4-FFF2-40B4-BE49-F238E27FC236}">
                <a16:creationId xmlns:a16="http://schemas.microsoft.com/office/drawing/2014/main" id="{347F3047-6896-4E09-B785-05F952A75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52800"/>
            <a:ext cx="47434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6383E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6383E"/>
                </a:solidFill>
                <a:latin typeface="Malgun Gothic"/>
                <a:ea typeface="Malgun Gothic"/>
                <a:cs typeface="Malgun Gothic"/>
              </a:rPr>
              <a:t>지면 높이를 맞추고 장애물 검사</a:t>
            </a:r>
          </a:p>
          <a:p xmlns:a="http://schemas.openxmlformats.org/drawingml/2006/main">
            <a:pPr>
              <a:defRPr sz="1800" b="0">
                <a:solidFill>
                  <a:srgbClr val="16383E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6383E"/>
                </a:solidFill>
                <a:latin typeface="Malgun Gothic"/>
                <a:ea typeface="Malgun Gothic"/>
                <a:cs typeface="Malgun Gothic"/>
              </a:rPr>
              <a:t>울타리·계단·조명 겹침 방지</a:t>
            </a:r>
          </a:p>
        </p:txBody>
      </p:sp>
      <p:sp>
        <p:nvSpPr>
          <p:cNvPr id="8" name="text-97q0y5-6">
            <a:extLst xmlns:a="http://schemas.openxmlformats.org/drawingml/2006/main">
              <a:ext uri="{FF2B5EF4-FFF2-40B4-BE49-F238E27FC236}">
                <a16:creationId xmlns:a16="http://schemas.microsoft.com/office/drawing/2014/main" id="{A10163B2-8C80-4382-9EB6-BDF6A8DC4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95775"/>
            <a:ext cx="4743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6383E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6383E"/>
                </a:solidFill>
                <a:latin typeface="Malgun Gothic"/>
                <a:ea typeface="Malgun Gothic"/>
                <a:cs typeface="Malgun Gothic"/>
              </a:rPr>
              <a:t>배치 규칙 자동 검증</a:t>
            </a:r>
          </a:p>
        </p:txBody>
      </p:sp>
      <p:sp>
        <p:nvSpPr>
          <p:cNvPr id="9" name="text-97q0y5-7">
            <a:extLst xmlns:a="http://schemas.openxmlformats.org/drawingml/2006/main">
              <a:ext uri="{FF2B5EF4-FFF2-40B4-BE49-F238E27FC236}">
                <a16:creationId xmlns:a16="http://schemas.microsoft.com/office/drawing/2014/main" id="{F8518D1B-EBBF-46D8-8E53-453880E13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24400"/>
            <a:ext cx="47434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6383E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6383E"/>
                </a:solidFill>
                <a:latin typeface="Malgun Gothic"/>
                <a:ea typeface="Malgun Gothic"/>
                <a:cs typeface="Malgun Gothic"/>
              </a:rPr>
              <a:t>각 집의 대문 옆, 울타리 바깥</a:t>
            </a:r>
          </a:p>
          <a:p xmlns:a="http://schemas.openxmlformats.org/drawingml/2006/main">
            <a:pPr>
              <a:defRPr sz="1800" b="0">
                <a:solidFill>
                  <a:srgbClr val="16383E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6383E"/>
                </a:solidFill>
                <a:latin typeface="Malgun Gothic"/>
                <a:ea typeface="Malgun Gothic"/>
                <a:cs typeface="Malgun Gothic"/>
              </a:rPr>
              <a:t>문은 도로를 향하고 높이는 2.832m</a:t>
            </a:r>
          </a:p>
        </p:txBody>
      </p:sp>
      <p:sp>
        <p:nvSpPr>
          <p:cNvPr id="10" name="text-97q0y5-8">
            <a:extLst xmlns:a="http://schemas.openxmlformats.org/drawingml/2006/main">
              <a:ext uri="{FF2B5EF4-FFF2-40B4-BE49-F238E27FC236}">
                <a16:creationId xmlns:a16="http://schemas.microsoft.com/office/drawing/2014/main" id="{5AA9EF08-A584-4CD8-8861-F473606F1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810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87D8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087D85"/>
                </a:solidFill>
                <a:latin typeface="Malgun Gothic"/>
                <a:ea typeface="Malgun Gothic"/>
                <a:cs typeface="Malgun Gothic"/>
              </a:rPr>
              <a:t>Tools / Art / Delivery Props / Import and Place Mailboxes</a:t>
            </a:r>
          </a:p>
        </p:txBody>
      </p:sp>
    </p:spTree>
    <p:extLst>
      <p:ext uri="{BB962C8B-B14F-4D97-AF65-F5344CB8AC3E}">
        <p14:creationId xmlns:p14="http://schemas.microsoft.com/office/powerpoint/2010/main" val="157658815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6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db646p-0">
            <a:extLst xmlns:a="http://schemas.openxmlformats.org/drawingml/2006/main">
              <a:ext uri="{FF2B5EF4-FFF2-40B4-BE49-F238E27FC236}">
                <a16:creationId xmlns:a16="http://schemas.microsoft.com/office/drawing/2014/main" id="{18859198-6997-4E2F-B23B-4A56C4C69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34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6383E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6383E"/>
                </a:solidFill>
                <a:latin typeface="Malgun Gothic"/>
                <a:ea typeface="Malgun Gothic"/>
                <a:cs typeface="Malgun Gothic"/>
              </a:rPr>
              <a:t>네이티브 고리와 상승 입자</a:t>
            </a:r>
          </a:p>
        </p:txBody>
      </p:sp>
      <p:sp>
        <p:nvSpPr>
          <p:cNvPr id="2" name="text-db646p-1">
            <a:extLst xmlns:a="http://schemas.openxmlformats.org/drawingml/2006/main">
              <a:ext uri="{FF2B5EF4-FFF2-40B4-BE49-F238E27FC236}">
                <a16:creationId xmlns:a16="http://schemas.microsoft.com/office/drawing/2014/main" id="{1E0DF199-6A21-4B1F-A03A-E482A6665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96C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96C"/>
                </a:solidFill>
                <a:latin typeface="Malgun Gothic"/>
                <a:ea typeface="Malgun Gothic"/>
                <a:cs typeface="Malgun Gothic"/>
              </a:rPr>
              <a:t>Monster Delivery Service  ·  2026.10.06  ·  14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d95880db1d4d3e"/>
          <a:stretch xmlns:a="http://schemas.openxmlformats.org/drawingml/2006/main"/>
        </p:blipFill>
        <p:spPr>
          <a:xfrm xmlns:a="http://schemas.openxmlformats.org/drawingml/2006/main">
            <a:off x="609600" y="1492704"/>
            <a:ext cx="5981700" cy="4272643"/>
          </a:xfrm>
          <a:prstGeom xmlns:a="http://schemas.openxmlformats.org/drawingml/2006/main" prst="rect">
            <a:avLst/>
          </a:prstGeom>
        </p:spPr>
      </p:pic>
      <p:sp>
        <p:nvSpPr>
          <p:cNvPr id="4" name="text-db646p-2">
            <a:extLst xmlns:a="http://schemas.openxmlformats.org/drawingml/2006/main">
              <a:ext uri="{FF2B5EF4-FFF2-40B4-BE49-F238E27FC236}">
                <a16:creationId xmlns:a16="http://schemas.microsoft.com/office/drawing/2014/main" id="{473069F6-1C39-491C-81BD-CDAD62B4E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552575"/>
            <a:ext cx="4343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6383E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6383E"/>
                </a:solidFill>
                <a:latin typeface="Malgun Gothic"/>
                <a:ea typeface="Malgun Gothic"/>
                <a:cs typeface="Malgun Gothic"/>
              </a:rPr>
              <a:t>LineRenderer</a:t>
            </a:r>
          </a:p>
        </p:txBody>
      </p:sp>
      <p:sp>
        <p:nvSpPr>
          <p:cNvPr id="5" name="text-db646p-3">
            <a:extLst xmlns:a="http://schemas.openxmlformats.org/drawingml/2006/main">
              <a:ext uri="{FF2B5EF4-FFF2-40B4-BE49-F238E27FC236}">
                <a16:creationId xmlns:a16="http://schemas.microsoft.com/office/drawing/2014/main" id="{67027251-C5DC-4D37-B5FA-901AB8977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981200"/>
            <a:ext cx="4343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6383E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6383E"/>
                </a:solidFill>
                <a:latin typeface="Malgun Gothic"/>
                <a:ea typeface="Malgun Gothic"/>
                <a:cs typeface="Malgun Gothic"/>
              </a:rPr>
              <a:t>64개 점으로 고리 구성</a:t>
            </a:r>
          </a:p>
          <a:p xmlns:a="http://schemas.openxmlformats.org/drawingml/2006/main">
            <a:pPr>
              <a:defRPr sz="1800" b="0">
                <a:solidFill>
                  <a:srgbClr val="16383E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6383E"/>
                </a:solidFill>
                <a:latin typeface="Malgun Gothic"/>
                <a:ea typeface="Malgun Gothic"/>
                <a:cs typeface="Malgun Gothic"/>
              </a:rPr>
              <a:t>반지름 0.48m · 굵기 0.035m</a:t>
            </a:r>
          </a:p>
        </p:txBody>
      </p:sp>
      <p:sp>
        <p:nvSpPr>
          <p:cNvPr id="6" name="text-db646p-4">
            <a:extLst xmlns:a="http://schemas.openxmlformats.org/drawingml/2006/main">
              <a:ext uri="{FF2B5EF4-FFF2-40B4-BE49-F238E27FC236}">
                <a16:creationId xmlns:a16="http://schemas.microsoft.com/office/drawing/2014/main" id="{3940D6B3-B5F2-45C2-B899-65AE7E159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914650"/>
            <a:ext cx="4343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6383E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6383E"/>
                </a:solidFill>
                <a:latin typeface="Malgun Gothic"/>
                <a:ea typeface="Malgun Gothic"/>
                <a:cs typeface="Malgun Gothic"/>
              </a:rPr>
              <a:t>AnimationClip</a:t>
            </a:r>
          </a:p>
        </p:txBody>
      </p:sp>
      <p:sp>
        <p:nvSpPr>
          <p:cNvPr id="7" name="text-db646p-5">
            <a:extLst xmlns:a="http://schemas.openxmlformats.org/drawingml/2006/main">
              <a:ext uri="{FF2B5EF4-FFF2-40B4-BE49-F238E27FC236}">
                <a16:creationId xmlns:a16="http://schemas.microsoft.com/office/drawing/2014/main" id="{354064D6-5C9C-47CD-B57B-5470852FE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343275"/>
            <a:ext cx="4343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6383E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6383E"/>
                </a:solidFill>
                <a:latin typeface="Malgun Gothic"/>
                <a:ea typeface="Malgun Gothic"/>
                <a:cs typeface="Malgun Gothic"/>
              </a:rPr>
              <a:t>2.2초 반복 애니메이션</a:t>
            </a:r>
          </a:p>
          <a:p xmlns:a="http://schemas.openxmlformats.org/drawingml/2006/main">
            <a:pPr>
              <a:defRPr sz="1800" b="0">
                <a:solidFill>
                  <a:srgbClr val="16383E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6383E"/>
                </a:solidFill>
                <a:latin typeface="Malgun Gothic"/>
                <a:ea typeface="Malgun Gothic"/>
                <a:cs typeface="Malgun Gothic"/>
              </a:rPr>
              <a:t>고리 크기 0.94 ↔ 1.08</a:t>
            </a:r>
          </a:p>
        </p:txBody>
      </p:sp>
      <p:sp>
        <p:nvSpPr>
          <p:cNvPr id="8" name="text-db646p-6">
            <a:extLst xmlns:a="http://schemas.openxmlformats.org/drawingml/2006/main">
              <a:ext uri="{FF2B5EF4-FFF2-40B4-BE49-F238E27FC236}">
                <a16:creationId xmlns:a16="http://schemas.microsoft.com/office/drawing/2014/main" id="{CFC492AD-AEE0-42E0-BB6A-9151C7779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276725"/>
            <a:ext cx="4343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6383E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6383E"/>
                </a:solidFill>
                <a:latin typeface="Malgun Gothic"/>
                <a:ea typeface="Malgun Gothic"/>
                <a:cs typeface="Malgun Gothic"/>
              </a:rPr>
              <a:t>ParticleSystem</a:t>
            </a:r>
          </a:p>
        </p:txBody>
      </p:sp>
      <p:sp>
        <p:nvSpPr>
          <p:cNvPr id="9" name="text-db646p-7">
            <a:extLst xmlns:a="http://schemas.openxmlformats.org/drawingml/2006/main">
              <a:ext uri="{FF2B5EF4-FFF2-40B4-BE49-F238E27FC236}">
                <a16:creationId xmlns:a16="http://schemas.microsoft.com/office/drawing/2014/main" id="{5F25EB82-6957-4A1F-86D7-A2A486E0F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705350"/>
            <a:ext cx="4343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6383E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6383E"/>
                </a:solidFill>
                <a:latin typeface="Malgun Gothic"/>
                <a:ea typeface="Malgun Gothic"/>
                <a:cs typeface="Malgun Gothic"/>
              </a:rPr>
              <a:t>초당 4개 · 최대 16개</a:t>
            </a:r>
          </a:p>
          <a:p xmlns:a="http://schemas.openxmlformats.org/drawingml/2006/main">
            <a:pPr>
              <a:defRPr sz="1800" b="0">
                <a:solidFill>
                  <a:srgbClr val="16383E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6383E"/>
                </a:solidFill>
                <a:latin typeface="Malgun Gothic"/>
                <a:ea typeface="Malgun Gothic"/>
                <a:cs typeface="Malgun Gothic"/>
              </a:rPr>
              <a:t>작은 구체가 상승하며 사라짐</a:t>
            </a:r>
          </a:p>
        </p:txBody>
      </p:sp>
      <p:sp>
        <p:nvSpPr>
          <p:cNvPr id="10" name="text-db646p-8">
            <a:extLst xmlns:a="http://schemas.openxmlformats.org/drawingml/2006/main">
              <a:ext uri="{FF2B5EF4-FFF2-40B4-BE49-F238E27FC236}">
                <a16:creationId xmlns:a16="http://schemas.microsoft.com/office/drawing/2014/main" id="{C3EF7655-FCF3-425C-95BE-9C7D64A6B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10810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87D8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087D85"/>
                </a:solidFill>
                <a:latin typeface="Malgun Gothic"/>
                <a:ea typeface="Malgun Gothic"/>
                <a:cs typeface="Malgun Gothic"/>
              </a:rPr>
              <a:t>별도 매 프레임 이펙트 스크립트 없이 Unity 기본 컴포넌트로 구성</a:t>
            </a:r>
          </a:p>
        </p:txBody>
      </p:sp>
    </p:spTree>
    <p:extLst>
      <p:ext uri="{BB962C8B-B14F-4D97-AF65-F5344CB8AC3E}">
        <p14:creationId xmlns:p14="http://schemas.microsoft.com/office/powerpoint/2010/main" val="58707067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6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c4f3x2-0">
            <a:extLst xmlns:a="http://schemas.openxmlformats.org/drawingml/2006/main">
              <a:ext uri="{FF2B5EF4-FFF2-40B4-BE49-F238E27FC236}">
                <a16:creationId xmlns:a16="http://schemas.microsoft.com/office/drawing/2014/main" id="{4D0C1B9E-298D-42CE-AD0B-EB84191E1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34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6383E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6383E"/>
                </a:solidFill>
                <a:latin typeface="Malgun Gothic"/>
                <a:ea typeface="Malgun Gothic"/>
                <a:cs typeface="Malgun Gothic"/>
              </a:rPr>
              <a:t>충돌과 보도 메시 보완</a:t>
            </a:r>
          </a:p>
        </p:txBody>
      </p:sp>
      <p:sp>
        <p:nvSpPr>
          <p:cNvPr id="2" name="text-c4f3x2-1">
            <a:extLst xmlns:a="http://schemas.openxmlformats.org/drawingml/2006/main">
              <a:ext uri="{FF2B5EF4-FFF2-40B4-BE49-F238E27FC236}">
                <a16:creationId xmlns:a16="http://schemas.microsoft.com/office/drawing/2014/main" id="{575E28E8-2AE8-4F04-BFFE-747844CE3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96C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96C"/>
                </a:solidFill>
                <a:latin typeface="Malgun Gothic"/>
                <a:ea typeface="Malgun Gothic"/>
                <a:cs typeface="Malgun Gothic"/>
              </a:rPr>
              <a:t>Monster Delivery Service  ·  2026.10.06  ·  15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ec5bc819fa47fb"/>
          <a:stretch xmlns:a="http://schemas.openxmlformats.org/drawingml/2006/main"/>
        </p:blipFill>
        <p:spPr>
          <a:xfrm xmlns:a="http://schemas.openxmlformats.org/drawingml/2006/main">
            <a:off x="5753100" y="1948160"/>
            <a:ext cx="5857875" cy="3295055"/>
          </a:xfrm>
          <a:prstGeom xmlns:a="http://schemas.openxmlformats.org/drawingml/2006/main" prst="rect">
            <a:avLst/>
          </a:prstGeom>
        </p:spPr>
      </p:pic>
      <p:sp>
        <p:nvSpPr>
          <p:cNvPr id="4" name="text-c4f3x2-2">
            <a:extLst xmlns:a="http://schemas.openxmlformats.org/drawingml/2006/main">
              <a:ext uri="{FF2B5EF4-FFF2-40B4-BE49-F238E27FC236}">
                <a16:creationId xmlns:a16="http://schemas.microsoft.com/office/drawing/2014/main" id="{34BDAA9F-2740-4FC9-B6DA-7CDFEBF68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4619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6383E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6383E"/>
                </a:solidFill>
                <a:latin typeface="Malgun Gothic"/>
                <a:ea typeface="Malgun Gothic"/>
                <a:cs typeface="Malgun Gothic"/>
              </a:rPr>
              <a:t>가까운 벽 관통 방지</a:t>
            </a:r>
          </a:p>
        </p:txBody>
      </p:sp>
      <p:sp>
        <p:nvSpPr>
          <p:cNvPr id="5" name="text-c4f3x2-3">
            <a:extLst xmlns:a="http://schemas.openxmlformats.org/drawingml/2006/main">
              <a:ext uri="{FF2B5EF4-FFF2-40B4-BE49-F238E27FC236}">
                <a16:creationId xmlns:a16="http://schemas.microsoft.com/office/drawing/2014/main" id="{4ABD3CA9-E7C7-4EFC-BE45-4422C85E2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4619625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6383E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6383E"/>
                </a:solidFill>
                <a:latin typeface="Malgun Gothic"/>
                <a:ea typeface="Malgun Gothic"/>
                <a:cs typeface="Malgun Gothic"/>
              </a:rPr>
              <a:t>카메라부터 투척 생성점까지</a:t>
            </a:r>
          </a:p>
          <a:p xmlns:a="http://schemas.openxmlformats.org/drawingml/2006/main">
            <a:pPr>
              <a:defRPr sz="1800" b="0">
                <a:solidFill>
                  <a:srgbClr val="16383E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6383E"/>
                </a:solidFill>
                <a:latin typeface="Malgun Gothic"/>
                <a:ea typeface="Malgun Gothic"/>
                <a:cs typeface="Malgun Gothic"/>
              </a:rPr>
              <a:t>Raycast + SphereCast 검사</a:t>
            </a:r>
          </a:p>
        </p:txBody>
      </p:sp>
      <p:sp>
        <p:nvSpPr>
          <p:cNvPr id="6" name="text-c4f3x2-4">
            <a:extLst xmlns:a="http://schemas.openxmlformats.org/drawingml/2006/main">
              <a:ext uri="{FF2B5EF4-FFF2-40B4-BE49-F238E27FC236}">
                <a16:creationId xmlns:a16="http://schemas.microsoft.com/office/drawing/2014/main" id="{C76DFCF2-ABD2-4853-BCB3-5B1063727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81325"/>
            <a:ext cx="4619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6383E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6383E"/>
                </a:solidFill>
                <a:latin typeface="Malgun Gothic"/>
                <a:ea typeface="Malgun Gothic"/>
                <a:cs typeface="Malgun Gothic"/>
              </a:rPr>
              <a:t>고속 이동 중 충돌</a:t>
            </a:r>
          </a:p>
        </p:txBody>
      </p:sp>
      <p:sp>
        <p:nvSpPr>
          <p:cNvPr id="7" name="text-c4f3x2-5">
            <a:extLst xmlns:a="http://schemas.openxmlformats.org/drawingml/2006/main">
              <a:ext uri="{FF2B5EF4-FFF2-40B4-BE49-F238E27FC236}">
                <a16:creationId xmlns:a16="http://schemas.microsoft.com/office/drawing/2014/main" id="{6B1DB916-1A13-47D8-9D4F-0F1C5201E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9950"/>
            <a:ext cx="4619625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6383E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6383E"/>
                </a:solidFill>
                <a:latin typeface="Malgun Gothic"/>
                <a:ea typeface="Malgun Gothic"/>
                <a:cs typeface="Malgun Gothic"/>
              </a:rPr>
              <a:t>FixedUpdate의 Rigidbody.SweepTest</a:t>
            </a:r>
          </a:p>
          <a:p xmlns:a="http://schemas.openxmlformats.org/drawingml/2006/main">
            <a:pPr>
              <a:defRPr sz="1800" b="0">
                <a:solidFill>
                  <a:srgbClr val="16383E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6383E"/>
                </a:solidFill>
                <a:latin typeface="Malgun Gothic"/>
                <a:ea typeface="Malgun Gothic"/>
                <a:cs typeface="Malgun Gothic"/>
              </a:rPr>
              <a:t>첫 충돌에서 효과를 한 번만 처리</a:t>
            </a:r>
          </a:p>
        </p:txBody>
      </p:sp>
      <p:sp>
        <p:nvSpPr>
          <p:cNvPr id="8" name="text-c4f3x2-6">
            <a:extLst xmlns:a="http://schemas.openxmlformats.org/drawingml/2006/main">
              <a:ext uri="{FF2B5EF4-FFF2-40B4-BE49-F238E27FC236}">
                <a16:creationId xmlns:a16="http://schemas.microsoft.com/office/drawing/2014/main" id="{E5F2491F-A1CA-4631-9E37-415858291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0"/>
            <a:ext cx="4619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6383E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6383E"/>
                </a:solidFill>
                <a:latin typeface="Malgun Gothic"/>
                <a:ea typeface="Malgun Gothic"/>
                <a:cs typeface="Malgun Gothic"/>
              </a:rPr>
              <a:t>보도 모서리 Z-fighting 제거</a:t>
            </a:r>
          </a:p>
        </p:txBody>
      </p:sp>
      <p:sp>
        <p:nvSpPr>
          <p:cNvPr id="9" name="text-c4f3x2-7">
            <a:extLst xmlns:a="http://schemas.openxmlformats.org/drawingml/2006/main">
              <a:ext uri="{FF2B5EF4-FFF2-40B4-BE49-F238E27FC236}">
                <a16:creationId xmlns:a16="http://schemas.microsoft.com/office/drawing/2014/main" id="{EE5AE945-E7DC-4E93-B454-59627083B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4619625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6383E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6383E"/>
                </a:solidFill>
                <a:latin typeface="Malgun Gothic"/>
                <a:ea typeface="Malgun Gothic"/>
                <a:cs typeface="Malgun Gothic"/>
              </a:rPr>
              <a:t>같은 높이의 겹친 표면을 분할</a:t>
            </a:r>
          </a:p>
          <a:p xmlns:a="http://schemas.openxmlformats.org/drawingml/2006/main">
            <a:pPr>
              <a:defRPr sz="1800" b="0">
                <a:solidFill>
                  <a:srgbClr val="16383E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6383E"/>
                </a:solidFill>
                <a:latin typeface="Malgun Gothic"/>
                <a:ea typeface="Malgun Gothic"/>
                <a:cs typeface="Malgun Gothic"/>
              </a:rPr>
              <a:t>기존 이동용 BoxCollider 유지</a:t>
            </a:r>
          </a:p>
        </p:txBody>
      </p:sp>
    </p:spTree>
    <p:extLst>
      <p:ext uri="{BB962C8B-B14F-4D97-AF65-F5344CB8AC3E}">
        <p14:creationId xmlns:p14="http://schemas.microsoft.com/office/powerpoint/2010/main" val="9122482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6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lxrr3u-0">
            <a:extLst xmlns:a="http://schemas.openxmlformats.org/drawingml/2006/main">
              <a:ext uri="{FF2B5EF4-FFF2-40B4-BE49-F238E27FC236}">
                <a16:creationId xmlns:a16="http://schemas.microsoft.com/office/drawing/2014/main" id="{0DACDA73-FB06-4D7C-A045-2E84CCE0E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34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6383E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6383E"/>
                </a:solidFill>
                <a:latin typeface="Malgun Gothic"/>
                <a:ea typeface="Malgun Gothic"/>
                <a:cs typeface="Malgun Gothic"/>
              </a:rPr>
              <a:t>Editor 검증 도구</a:t>
            </a:r>
          </a:p>
        </p:txBody>
      </p:sp>
      <p:sp>
        <p:nvSpPr>
          <p:cNvPr id="2" name="text-lxrr3u-1">
            <a:extLst xmlns:a="http://schemas.openxmlformats.org/drawingml/2006/main">
              <a:ext uri="{FF2B5EF4-FFF2-40B4-BE49-F238E27FC236}">
                <a16:creationId xmlns:a16="http://schemas.microsoft.com/office/drawing/2014/main" id="{5EE06A05-F1A9-4354-BEF3-F79CCCC1B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96C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96C"/>
                </a:solidFill>
                <a:latin typeface="Malgun Gothic"/>
                <a:ea typeface="Malgun Gothic"/>
                <a:cs typeface="Malgun Gothic"/>
              </a:rPr>
              <a:t>Monster Delivery Service  ·  2026.10.06  ·  16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1571625"/>
          <a:ext xmlns:a="http://schemas.openxmlformats.org/drawingml/2006/main" cx="10972800" cy="3619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29000"/>
                <a:gridCol w="6000750"/>
                <a:gridCol w="1543050"/>
              </a:tblGrid>
              <a:tr h="60325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검증 대상</a:t>
                      </a:r>
                    </a:p>
                  </a:txBody>
                  <a:tcPr marL="133350" marR="133350" marT="114300" marB="95250">
                    <a:solidFill>
                      <a:srgbClr val="1638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검사 방식</a:t>
                      </a:r>
                    </a:p>
                  </a:txBody>
                  <a:tcPr marL="133350" marR="133350" marT="114300" marB="95250">
                    <a:solidFill>
                      <a:srgbClr val="1638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수</a:t>
                      </a:r>
                    </a:p>
                  </a:txBody>
                  <a:tcPr marL="133350" marR="133350" marT="114300" marB="95250">
                    <a:solidFill>
                      <a:srgbClr val="16383E"/>
                    </a:solidFill>
                  </a:tcPr>
                </a:tc>
              </a:tr>
              <a:tr h="60325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6383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조준점·점령·소유자 색</a:t>
                      </a:r>
                    </a:p>
                  </a:txBody>
                  <a:tcPr marL="133350" marR="133350" marT="114300" marB="95250">
                    <a:solidFill>
                      <a:srgbClr val="F6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6383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실제 우체통, 가림, 거리, 색 변경</a:t>
                      </a:r>
                    </a:p>
                  </a:txBody>
                  <a:tcPr marL="133350" marR="133350" marT="114300" marB="95250">
                    <a:solidFill>
                      <a:srgbClr val="F6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6383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48</a:t>
                      </a:r>
                    </a:p>
                  </a:txBody>
                  <a:tcPr marL="133350" marR="133350" marT="114300" marB="95250">
                    <a:solidFill>
                      <a:srgbClr val="F6F5EF"/>
                    </a:solidFill>
                  </a:tcPr>
                </a:tc>
              </a:tr>
              <a:tr h="60325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6383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아이템과 상태</a:t>
                      </a:r>
                    </a:p>
                  </a:txBody>
                  <a:tcPr marL="133350" marR="133350" marT="114300" marB="95250">
                    <a:solidFill>
                      <a:srgbClr val="F6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6383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실제 함수·물리·소모·노출 차단</a:t>
                      </a:r>
                    </a:p>
                  </a:txBody>
                  <a:tcPr marL="133350" marR="133350" marT="114300" marB="95250">
                    <a:solidFill>
                      <a:srgbClr val="F6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6383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42</a:t>
                      </a:r>
                    </a:p>
                  </a:txBody>
                  <a:tcPr marL="133350" marR="133350" marT="114300" marB="95250">
                    <a:solidFill>
                      <a:srgbClr val="F6F5EF"/>
                    </a:solidFill>
                  </a:tcPr>
                </a:tc>
              </a:tr>
              <a:tr h="60325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6383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플레이어 기본 동작</a:t>
                      </a:r>
                    </a:p>
                  </a:txBody>
                  <a:tcPr marL="133350" marR="133350" marT="114300" marB="95250">
                    <a:solidFill>
                      <a:srgbClr val="F6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6383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Input System 입력과 시작 상태</a:t>
                      </a:r>
                    </a:p>
                  </a:txBody>
                  <a:tcPr marL="133350" marR="133350" marT="114300" marB="95250">
                    <a:solidFill>
                      <a:srgbClr val="F6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6383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14</a:t>
                      </a:r>
                    </a:p>
                  </a:txBody>
                  <a:tcPr marL="133350" marR="133350" marT="114300" marB="95250">
                    <a:solidFill>
                      <a:srgbClr val="F6F5EF"/>
                    </a:solidFill>
                  </a:tcPr>
                </a:tc>
              </a:tr>
              <a:tr h="60325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6383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점프 지면</a:t>
                      </a:r>
                    </a:p>
                  </a:txBody>
                  <a:tcPr marL="133350" marR="133350" marT="114300" marB="95250">
                    <a:solidFill>
                      <a:srgbClr val="F6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6383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도로·차량·현관 계단</a:t>
                      </a:r>
                    </a:p>
                  </a:txBody>
                  <a:tcPr marL="133350" marR="133350" marT="114300" marB="95250">
                    <a:solidFill>
                      <a:srgbClr val="F6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6383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18</a:t>
                      </a:r>
                    </a:p>
                  </a:txBody>
                  <a:tcPr marL="133350" marR="133350" marT="114300" marB="95250">
                    <a:solidFill>
                      <a:srgbClr val="F6F5EF"/>
                    </a:solidFill>
                  </a:tcPr>
                </a:tc>
              </a:tr>
              <a:tr h="60325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6383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투척 충돌</a:t>
                      </a:r>
                    </a:p>
                  </a:txBody>
                  <a:tcPr marL="133350" marR="133350" marT="114300" marB="95250">
                    <a:solidFill>
                      <a:srgbClr val="F6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6383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집·울타리의 거리별 고속 충돌</a:t>
                      </a:r>
                    </a:p>
                  </a:txBody>
                  <a:tcPr marL="133350" marR="133350" marT="114300" marB="95250">
                    <a:solidFill>
                      <a:srgbClr val="F6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6383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121</a:t>
                      </a:r>
                    </a:p>
                  </a:txBody>
                  <a:tcPr marL="133350" marR="133350" marT="114300" marB="95250">
                    <a:solidFill>
                      <a:srgbClr val="F6F5EF"/>
                    </a:solidFill>
                  </a:tcPr>
                </a:tc>
              </a:tr>
            </a:tbl>
          </a:graphicData>
        </a:graphic>
      </p:graphicFrame>
      <p:sp>
        <p:nvSpPr>
          <p:cNvPr id="4" name="text-lxrr3u-2">
            <a:extLst xmlns:a="http://schemas.openxmlformats.org/drawingml/2006/main">
              <a:ext uri="{FF2B5EF4-FFF2-40B4-BE49-F238E27FC236}">
                <a16:creationId xmlns:a16="http://schemas.microsoft.com/office/drawing/2014/main" id="{7B14DFCE-20B2-4854-B18D-F5E6ABA35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95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7D85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087D85"/>
                </a:solidFill>
                <a:latin typeface="Malgun Gothic"/>
                <a:ea typeface="Malgun Gothic"/>
                <a:cs typeface="Malgun Gothic"/>
              </a:rPr>
              <a:t>임시 입력 장치·상태를 복원하고 art-review에 실제 장면과 결과를 저장</a:t>
            </a:r>
          </a:p>
        </p:txBody>
      </p:sp>
    </p:spTree>
    <p:extLst>
      <p:ext uri="{BB962C8B-B14F-4D97-AF65-F5344CB8AC3E}">
        <p14:creationId xmlns:p14="http://schemas.microsoft.com/office/powerpoint/2010/main" val="15655189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1233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kz1vfq-0">
            <a:extLst xmlns:a="http://schemas.openxmlformats.org/drawingml/2006/main">
              <a:ext uri="{FF2B5EF4-FFF2-40B4-BE49-F238E27FC236}">
                <a16:creationId xmlns:a16="http://schemas.microsoft.com/office/drawing/2014/main" id="{9C5067C6-2FB2-415A-B373-A7822F4AD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34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다음 구현 연결 지점</a:t>
            </a:r>
          </a:p>
        </p:txBody>
      </p:sp>
      <p:sp>
        <p:nvSpPr>
          <p:cNvPr id="2" name="text-kz1vfq-1">
            <a:extLst xmlns:a="http://schemas.openxmlformats.org/drawingml/2006/main">
              <a:ext uri="{FF2B5EF4-FFF2-40B4-BE49-F238E27FC236}">
                <a16:creationId xmlns:a16="http://schemas.microsoft.com/office/drawing/2014/main" id="{AE5B396E-ED4B-4FD3-86D6-9324BB0BF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BC6C9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ABC6C9"/>
                </a:solidFill>
                <a:latin typeface="Malgun Gothic"/>
                <a:ea typeface="Malgun Gothic"/>
                <a:cs typeface="Malgun Gothic"/>
              </a:rPr>
              <a:t>Monster Delivery Service  ·  2026.10.06  ·  17</a:t>
            </a:r>
          </a:p>
        </p:txBody>
      </p:sp>
      <p:sp>
        <p:nvSpPr>
          <p:cNvPr id="3" name="text-kz1vfq-2">
            <a:extLst xmlns:a="http://schemas.openxmlformats.org/drawingml/2006/main">
              <a:ext uri="{FF2B5EF4-FFF2-40B4-BE49-F238E27FC236}">
                <a16:creationId xmlns:a16="http://schemas.microsoft.com/office/drawing/2014/main" id="{ABAB67D6-9256-4FBD-998E-B02B692F1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입장 전 플레이어 색 선택</a:t>
            </a:r>
          </a:p>
        </p:txBody>
      </p:sp>
      <p:sp>
        <p:nvSpPr>
          <p:cNvPr id="4" name="text-kz1vfq-3">
            <a:extLst xmlns:a="http://schemas.openxmlformats.org/drawingml/2006/main">
              <a:ext uri="{FF2B5EF4-FFF2-40B4-BE49-F238E27FC236}">
                <a16:creationId xmlns:a16="http://schemas.microsoft.com/office/drawing/2014/main" id="{D8415676-64E9-4E1C-90CF-2E1210F06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28825"/>
            <a:ext cx="106680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선택값을 SetPlayerColor에 전달하고 점령 효과와 연결</a:t>
            </a:r>
          </a:p>
        </p:txBody>
      </p:sp>
      <p:sp>
        <p:nvSpPr>
          <p:cNvPr id="5" name="text-kz1vfq-4">
            <a:extLst xmlns:a="http://schemas.openxmlformats.org/drawingml/2006/main">
              <a:ext uri="{FF2B5EF4-FFF2-40B4-BE49-F238E27FC236}">
                <a16:creationId xmlns:a16="http://schemas.microsoft.com/office/drawing/2014/main" id="{A55A3DF8-24A2-4488-9F87-900B241D5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생활용품을 실제 플레이에 노출</a:t>
            </a:r>
          </a:p>
        </p:txBody>
      </p:sp>
      <p:sp>
        <p:nvSpPr>
          <p:cNvPr id="6" name="text-kz1vfq-5">
            <a:extLst xmlns:a="http://schemas.openxmlformats.org/drawingml/2006/main">
              <a:ext uri="{FF2B5EF4-FFF2-40B4-BE49-F238E27FC236}">
                <a16:creationId xmlns:a16="http://schemas.microsoft.com/office/drawing/2014/main" id="{7147B86B-A57B-4B8B-BD20-35FE0D2EF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106680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3D 모델·사용 애니메이션·효과음·픽업 연출과 봇 사용 AI 추가</a:t>
            </a:r>
          </a:p>
        </p:txBody>
      </p:sp>
      <p:sp>
        <p:nvSpPr>
          <p:cNvPr id="7" name="text-kz1vfq-6">
            <a:extLst xmlns:a="http://schemas.openxmlformats.org/drawingml/2006/main">
              <a:ext uri="{FF2B5EF4-FFF2-40B4-BE49-F238E27FC236}">
                <a16:creationId xmlns:a16="http://schemas.microsoft.com/office/drawing/2014/main" id="{EFE9A9CA-BE26-4D45-A3E3-CA7084A34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005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온라인 점령 상태 동기화</a:t>
            </a:r>
          </a:p>
        </p:txBody>
      </p:sp>
      <p:sp>
        <p:nvSpPr>
          <p:cNvPr id="8" name="text-kz1vfq-7">
            <a:extLst xmlns:a="http://schemas.openxmlformats.org/drawingml/2006/main">
              <a:ext uri="{FF2B5EF4-FFF2-40B4-BE49-F238E27FC236}">
                <a16:creationId xmlns:a16="http://schemas.microsoft.com/office/drawing/2014/main" id="{A2662CC3-6E62-4629-B792-B57CD97C1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38675"/>
            <a:ext cx="106680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참가자 ID·소유권·상태 이상·색상 데이터를 네트워크에 연결</a:t>
            </a:r>
          </a:p>
        </p:txBody>
      </p:sp>
      <p:sp>
        <p:nvSpPr>
          <p:cNvPr id="9" name="text-kz1vfq-8">
            <a:extLst xmlns:a="http://schemas.openxmlformats.org/drawingml/2006/main">
              <a:ext uri="{FF2B5EF4-FFF2-40B4-BE49-F238E27FC236}">
                <a16:creationId xmlns:a16="http://schemas.microsoft.com/office/drawing/2014/main" id="{C3DF4278-75C4-4F30-8D90-E385DC18A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2CF4B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F2CF4B"/>
                </a:solidFill>
                <a:latin typeface="Malgun Gothic"/>
                <a:ea typeface="Malgun Gothic"/>
                <a:cs typeface="Malgun Gothic"/>
              </a:rPr>
              <a:t>현재 단계: 로컬 맵 탐색 + 우체통 점령 / 아이템 로직 준비</a:t>
            </a:r>
          </a:p>
        </p:txBody>
      </p:sp>
    </p:spTree>
    <p:extLst>
      <p:ext uri="{BB962C8B-B14F-4D97-AF65-F5344CB8AC3E}">
        <p14:creationId xmlns:p14="http://schemas.microsoft.com/office/powerpoint/2010/main" val="131937507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2026-10-06T07:44:16.3580000Z</dcterms:created>
  <dcterms:modified xsi:type="dcterms:W3CDTF">2026-10-06T07:44:16.3580000Z</dcterms:modified>
</coreProperties>
</file>